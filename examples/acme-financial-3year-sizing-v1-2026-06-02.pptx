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slideLayouts/slideLayout32.xml" ContentType="application/vnd.openxmlformats-officedocument.presentationml.slideLayout+xml"/>
  <Override PartName="/ppt/theme/theme5.xml" ContentType="application/vnd.openxmlformats-officedocument.theme+xml"/>
  <Override PartName="/ppt/slideLayouts/slideLayout33.xml" ContentType="application/vnd.openxmlformats-officedocument.presentationml.slideLayout+xml"/>
  <Override PartName="/ppt/theme/theme6.xml" ContentType="application/vnd.openxmlformats-officedocument.theme+xml"/>
  <Override PartName="/ppt/slideLayouts/slideLayout3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2" r:id="rId2"/>
    <p:sldMasterId id="2147483657" r:id="rId3"/>
    <p:sldMasterId id="2147483659" r:id="rId4"/>
    <p:sldMasterId id="2147483682" r:id="rId5"/>
    <p:sldMasterId id="2147483684" r:id="rId6"/>
    <p:sldMasterId id="2147483686" r:id="rId7"/>
  </p:sldMasterIdLst>
  <p:notesMasterIdLst>
    <p:notesMasterId r:id="rId15"/>
  </p:notesMasterIdLst>
  <p:sldIdLst>
    <p:sldId id="500" r:id="rId21"/>
    <p:sldId id="501" r:id="rId22"/>
    <p:sldId id="502" r:id="rId23"/>
    <p:sldId id="503" r:id="rId24"/>
    <p:sldId id="504" r:id="rId25"/>
    <p:sldId id="505" r:id="rId26"/>
    <p:sldId id="506" r:id="rId27"/>
    <p:sldId id="507" r:id="rId28"/>
    <p:sldId id="508" r:id="rId29"/>
    <p:sldId id="509" r:id="rId30"/>
  </p:sldIdLst>
  <p:sldSz cx="9144000" cy="5143500" type="screen16x9"/>
  <p:notesSz cx="6858000" cy="9144000"/>
  <p:embeddedFontLst>
    <p:embeddedFont>
      <p:font typeface="Lato" panose="020F0502020204030203" pitchFamily="34" charset="77"/>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41"/>
    <p:restoredTop sz="94659"/>
  </p:normalViewPr>
  <p:slideViewPr>
    <p:cSldViewPr snapToGrid="0">
      <p:cViewPr varScale="1">
        <p:scale>
          <a:sx n="195" d="100"/>
          <a:sy n="195" d="100"/>
        </p:scale>
        <p:origin x="12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Master" Target="slideMasters/slideMaster7.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5" Type="http://schemas.openxmlformats.org/officeDocument/2006/relationships/slideMaster" Target="slideMasters/slideMaster5.xml"/><Relationship Id="rId15"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Master" Target="slideMasters/slideMaster4.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chart>
    <c:autoTitleDeleted val="1"/>
    <c:plotArea>
      <c:barChart>
        <c:barDir val="col"/>
        <c:grouping val="stacked"/>
        <c:varyColors val="1"/>
        <c:ser>
          <c:idx val="0"/>
          <c:order val="0"/>
          <c:tx>
            <c:strRef>
              <c:f>Sheet1!$B$1</c:f>
              <c:strCache>
                <c:ptCount val="1"/>
                <c:pt idx="0">
                  <c:v>Compute</c:v>
                </c:pt>
              </c:strCache>
            </c:strRef>
          </c:tx>
          <c:spPr>
            <a:solidFill>
              <a:srgbClr val="29B5E8"/>
            </a:solidFill>
          </c:spPr>
          <c:invertIfNegative val="1"/>
          <c:cat>
            <c:strRef>
              <c:f>Sheet1!$A$2:$A$4</c:f>
              <c:strCache>
                <c:ptCount val="3"/>
                <c:pt idx="0">
                  <c:v>Year 1</c:v>
                </c:pt>
                <c:pt idx="1">
                  <c:v>Year 2</c:v>
                </c:pt>
                <c:pt idx="2">
                  <c:v>Year 3</c:v>
                </c:pt>
              </c:strCache>
            </c:strRef>
          </c:cat>
          <c:val>
            <c:numRef>
              <c:f>Sheet1!$B$2:$B$4</c:f>
              <c:numCache>
                <c:formatCode>General</c:formatCode>
                <c:ptCount val="3"/>
                <c:pt idx="0">
                  <c:v>56464.11</c:v>
                </c:pt>
                <c:pt idx="1">
                  <c:v>160617.6</c:v>
                </c:pt>
                <c:pt idx="2">
                  <c:v>208802.88</c:v>
                </c:pt>
              </c:numCache>
            </c:numRef>
          </c:val>
        </c:ser>
        <c:ser>
          <c:idx val="1"/>
          <c:order val="1"/>
          <c:tx>
            <c:strRef>
              <c:f>Sheet1!$C$1</c:f>
              <c:strCache>
                <c:ptCount val="1"/>
                <c:pt idx="0">
                  <c:v>Serverless</c:v>
                </c:pt>
              </c:strCache>
            </c:strRef>
          </c:tx>
          <c:spPr>
            <a:solidFill>
              <a:srgbClr val="71D3DC"/>
            </a:solidFill>
          </c:spPr>
          <c:invertIfNegative val="1"/>
          <c:cat>
            <c:strRef>
              <c:f>Sheet1!$A$2:$A$4</c:f>
              <c:strCache>
                <c:ptCount val="3"/>
                <c:pt idx="0">
                  <c:v>Year 1</c:v>
                </c:pt>
                <c:pt idx="1">
                  <c:v>Year 2</c:v>
                </c:pt>
                <c:pt idx="2">
                  <c:v>Year 3</c:v>
                </c:pt>
              </c:strCache>
            </c:strRef>
          </c:cat>
          <c:val>
            <c:numRef>
              <c:f>Sheet1!$C$2:$C$4</c:f>
              <c:numCache>
                <c:formatCode>General</c:formatCode>
                <c:ptCount val="3"/>
                <c:pt idx="0">
                  <c:v>2118.15</c:v>
                </c:pt>
                <c:pt idx="1">
                  <c:v>2937.17</c:v>
                </c:pt>
                <c:pt idx="2">
                  <c:v>3818.32</c:v>
                </c:pt>
              </c:numCache>
            </c:numRef>
          </c:val>
        </c:ser>
        <c:ser>
          <c:idx val="2"/>
          <c:order val="2"/>
          <c:tx>
            <c:strRef>
              <c:f>Sheet1!$D$1</c:f>
              <c:strCache>
                <c:ptCount val="1"/>
                <c:pt idx="0">
                  <c:v>Storage</c:v>
                </c:pt>
              </c:strCache>
            </c:strRef>
          </c:tx>
          <c:spPr>
            <a:solidFill>
              <a:srgbClr val="7D44CF"/>
            </a:solidFill>
          </c:spPr>
          <c:invertIfNegative val="1"/>
          <c:cat>
            <c:strRef>
              <c:f>Sheet1!$A$2:$A$4</c:f>
              <c:strCache>
                <c:ptCount val="3"/>
                <c:pt idx="0">
                  <c:v>Year 1</c:v>
                </c:pt>
                <c:pt idx="1">
                  <c:v>Year 2</c:v>
                </c:pt>
                <c:pt idx="2">
                  <c:v>Year 3</c:v>
                </c:pt>
              </c:strCache>
            </c:strRef>
          </c:cat>
          <c:val>
            <c:numRef>
              <c:f>Sheet1!$D$2:$D$4</c:f>
              <c:numCache>
                <c:formatCode>General</c:formatCode>
                <c:ptCount val="3"/>
                <c:pt idx="0">
                  <c:v>492.8</c:v>
                </c:pt>
                <c:pt idx="1">
                  <c:v>640.64</c:v>
                </c:pt>
                <c:pt idx="2">
                  <c:v>832.83</c:v>
                </c:pt>
              </c:numCache>
            </c:numRef>
          </c:val>
        </c:ser>
        <c:ser>
          <c:idx val="3"/>
          <c:order val="3"/>
          <c:tx>
            <c:strRef>
              <c:f>Sheet1!$E$1</c:f>
              <c:strCache>
                <c:ptCount val="1"/>
                <c:pt idx="0">
                  <c:v>Other</c:v>
                </c:pt>
              </c:strCache>
            </c:strRef>
          </c:tx>
          <c:spPr>
            <a:solidFill>
              <a:srgbClr val="D45B90"/>
            </a:solidFill>
          </c:spPr>
          <c:invertIfNegative val="1"/>
          <c:cat>
            <c:strRef>
              <c:f>Sheet1!$A$2:$A$4</c:f>
              <c:strCache>
                <c:ptCount val="3"/>
                <c:pt idx="0">
                  <c:v>Year 1</c:v>
                </c:pt>
                <c:pt idx="1">
                  <c:v>Year 2</c:v>
                </c:pt>
                <c:pt idx="2">
                  <c:v>Year 3</c:v>
                </c:pt>
              </c:strCache>
            </c:strRef>
          </c:cat>
          <c:val>
            <c:numRef>
              <c:f>Sheet1!$E$2:$E$4</c:f>
              <c:numCache>
                <c:formatCode>General</c:formatCode>
                <c:ptCount val="3"/>
                <c:pt idx="0">
                  <c:v>8670.53</c:v>
                </c:pt>
                <c:pt idx="1">
                  <c:v>7781.75</c:v>
                </c:pt>
                <c:pt idx="2">
                  <c:v>7792.98</c:v>
                </c:pt>
              </c:numCache>
            </c:numRef>
          </c:val>
        </c:ser>
        <c:dLbls>
          <c:showLegendKey val="0"/>
          <c:showVal val="0"/>
          <c:showCatName val="0"/>
          <c:showSerName val="0"/>
          <c:showPercent val="0"/>
          <c:showBubbleSize val="0"/>
        </c:dLbls>
        <c:gapWidth val="150"/>
        <c:overlap val="100"/>
        <c:axId val="1"/>
        <c:axId val="2"/>
      </c:barChart>
      <c:catAx>
        <c:axId val="1"/>
        <c:scaling>
          <c:orientation val="minMax"/>
        </c:scaling>
        <c:delete val="0"/>
        <c:axPos val="b"/>
        <c:numFmt formatCode="General" sourceLinked="0"/>
        <c:majorTickMark val="cross"/>
        <c:minorTickMark val="cross"/>
        <c:tickLblPos val="nextTo"/>
        <c:txPr>
          <a:bodyPr/>
          <a:lstStyle/>
          <a:p>
            <a:pPr>
              <a:defRPr sz="900">
                <a:solidFill>
                  <a:srgbClr val="262626"/>
                </a:solidFill>
              </a:defRPr>
            </a:pPr>
          </a:p>
        </c:txPr>
        <c:crossAx val="2"/>
        <c:crosses val="autoZero"/>
        <c:auto val="1"/>
        <c:lblAlgn val="ctr"/>
        <c:lblOffset val="100"/>
        <c:noMultiLvlLbl val="1"/>
      </c:catAx>
      <c:valAx>
        <c:axId val="2"/>
        <c:scaling>
          <c:orientation val="minMax"/>
        </c:scaling>
        <c:delete val="0"/>
        <c:axPos val="l"/>
        <c:majorGridlines/>
        <c:numFmt formatCode="General" sourceLinked="1"/>
        <c:majorTickMark val="cross"/>
        <c:minorTickMark val="cross"/>
        <c:tickLblPos val="nextTo"/>
        <c:txPr>
          <a:bodyPr/>
          <a:lstStyle/>
          <a:p>
            <a:pPr>
              <a:defRPr sz="900">
                <a:solidFill>
                  <a:srgbClr val="262626"/>
                </a:solidFill>
              </a:defRPr>
            </a:pPr>
          </a:p>
        </c:txPr>
        <c:crossAx val="1"/>
        <c:crosses val="autoZero"/>
        <c:crossBetween val="between"/>
      </c:valAx>
    </c:plotArea>
    <c:legend>
      <c:legendPos val="r"/>
      <c:overlay val="0"/>
      <c:txPr>
        <a:bodyPr/>
        <a:lstStyle/>
        <a:p>
          <a:pPr>
            <a:defRPr sz="900">
              <a:solidFill>
                <a:srgbClr val="262626"/>
              </a:solidFill>
            </a:defRPr>
          </a:pPr>
        </a:p>
      </c:txPr>
    </c:legend>
    <c:plotVisOnly val="1"/>
    <c:dispBlanksAs val="gap"/>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chart>
    <c:autoTitleDeleted val="1"/>
    <c:plotArea>
      <c:layout/>
      <c:doughnutChart>
        <c:varyColors val="1"/>
        <c:ser>
          <c:idx val="0"/>
          <c:order val="0"/>
          <c:tx>
            <c:strRef>
              <c:f>Sheet1!$B$1</c:f>
              <c:strCache>
                <c:ptCount val="1"/>
                <c:pt idx="0">
                  <c:v>Share</c:v>
                </c:pt>
              </c:strCache>
            </c:strRef>
          </c:tx>
          <c:dPt>
            <c:idx val="0"/>
            <c:bubble3D val="0"/>
            <c:spPr>
              <a:solidFill>
                <a:srgbClr val="29B5E8"/>
              </a:solidFill>
            </c:spPr>
          </c:dPt>
          <c:dPt>
            <c:idx val="1"/>
            <c:bubble3D val="0"/>
            <c:spPr>
              <a:solidFill>
                <a:srgbClr val="71D3DC"/>
              </a:solidFill>
            </c:spPr>
          </c:dPt>
          <c:dPt>
            <c:idx val="2"/>
            <c:bubble3D val="0"/>
            <c:spPr>
              <a:solidFill>
                <a:srgbClr val="FF9F36"/>
              </a:solidFill>
            </c:spPr>
          </c:dPt>
          <c:dPt>
            <c:idx val="3"/>
            <c:bubble3D val="0"/>
            <c:spPr>
              <a:solidFill>
                <a:srgbClr val="7D44CF"/>
              </a:solidFill>
            </c:spPr>
          </c:dPt>
          <c:dPt>
            <c:idx val="4"/>
            <c:bubble3D val="0"/>
            <c:spPr>
              <a:solidFill>
                <a:srgbClr val="D45B90"/>
              </a:solidFill>
            </c:spPr>
          </c:dPt>
          <c:dLbls>
            <c:numFmt formatCode="0%" sourceLinked="0"/>
            <c:spPr>
              <a:noFill/>
              <a:ln>
                <a:noFill/>
              </a:ln>
              <a:effectLst/>
            </c:spPr>
            <c:txPr>
              <a:bodyPr/>
              <a:lstStyle/>
              <a:p>
                <a:pPr>
                  <a:defRPr sz="900">
                    <a:solidFill>
                      <a:srgbClr val="262626"/>
                    </a:solidFill>
                  </a:defRPr>
                </a:pPr>
              </a:p>
            </c:txPr>
            <c:showLegendKey val="0"/>
            <c:showVal val="0"/>
            <c:showCatName val="0"/>
            <c:showSerName val="0"/>
            <c:showPercent val="1"/>
            <c:showBubbleSize val="0"/>
            <c:showLeaderLines val="1"/>
          </c:dLbls>
          <c:cat>
            <c:strRef>
              <c:f>Sheet1!$A$2:$A$6</c:f>
              <c:strCache>
                <c:ptCount val="5"/>
                <c:pt idx="0">
                  <c:v>Data Ingestion (Fivetran -&gt; Snowflake)</c:v>
                </c:pt>
                <c:pt idx="1">
                  <c:v>dbt Transformations (200 models)</c:v>
                </c:pt>
                <c:pt idx="2">
                  <c:v>Power BI DirectQuery (40 concurrent users)</c:v>
                </c:pt>
                <c:pt idx="3">
                  <c:v>Data Science / Snowpark (5 users)</c:v>
                </c:pt>
                <c:pt idx="4">
                  <c:v>Development / Sandbox (8 engineers)</c:v>
                </c:pt>
              </c:strCache>
            </c:strRef>
          </c:cat>
          <c:val>
            <c:numRef>
              <c:f>Sheet1!$B$2:$B$6</c:f>
              <c:numCache>
                <c:formatCode>General</c:formatCode>
                <c:ptCount val="5"/>
                <c:pt idx="0">
                  <c:v>974.44</c:v>
                </c:pt>
                <c:pt idx="1">
                  <c:v>572</c:v>
                </c:pt>
                <c:pt idx="2">
                  <c:v>7952.59</c:v>
                </c:pt>
                <c:pt idx="3">
                  <c:v>3575</c:v>
                </c:pt>
                <c:pt idx="4">
                  <c:v>1042</c:v>
                </c:pt>
              </c:numCache>
            </c:numRef>
          </c:val>
        </c:ser>
        <c:dLbls>
          <c:showLegendKey val="0"/>
          <c:showVal val="0"/>
          <c:showCatName val="0"/>
          <c:showSerName val="0"/>
          <c:showPercent val="1"/>
          <c:showBubbleSize val="0"/>
          <c:showLeaderLines val="1"/>
        </c:dLbls>
        <c:firstSliceAng val="0"/>
        <c:holeSize val="50"/>
      </c:doughnutChart>
    </c:plotArea>
    <c:legend>
      <c:legendPos val="r"/>
      <c:overlay val="0"/>
      <c:txPr>
        <a:bodyPr/>
        <a:lstStyle/>
        <a:p>
          <a:pPr>
            <a:defRPr sz="900">
              <a:solidFill>
                <a:srgbClr val="262626"/>
              </a:solidFill>
            </a:defRPr>
          </a:pPr>
        </a:p>
      </c:txPr>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GB" sz="4400" b="0" u="none" strike="noStrike">
                <a:solidFill>
                  <a:srgbClr val="000000"/>
                </a:solidFill>
                <a:effectLst/>
                <a:uFillTx/>
                <a:latin typeface="Arial"/>
              </a:rPr>
              <a:t>Click to move the slide</a:t>
            </a:r>
          </a:p>
        </p:txBody>
      </p:sp>
      <p:sp>
        <p:nvSpPr>
          <p:cNvPr id="27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GB" sz="2000" b="0" u="none" strike="noStrike">
                <a:solidFill>
                  <a:srgbClr val="000000"/>
                </a:solidFill>
                <a:effectLst/>
                <a:uFillTx/>
                <a:latin typeface="Arial"/>
              </a:rPr>
              <a:t>Click to edit the notes' format</a:t>
            </a:r>
          </a:p>
        </p:txBody>
      </p:sp>
      <p:sp>
        <p:nvSpPr>
          <p:cNvPr id="27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u="none" strike="noStrike">
                <a:solidFill>
                  <a:srgbClr val="000000"/>
                </a:solidFill>
                <a:effectLst/>
                <a:uFillTx/>
                <a:latin typeface="Times New Roman"/>
              </a:rPr>
              <a:t>&lt;header&gt;</a:t>
            </a:r>
          </a:p>
        </p:txBody>
      </p:sp>
      <p:sp>
        <p:nvSpPr>
          <p:cNvPr id="274" name="PlaceHolder 4"/>
          <p:cNvSpPr>
            <a:spLocks noGrp="1"/>
          </p:cNvSpPr>
          <p:nvPr>
            <p:ph type="dt" idx="19"/>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p>
        </p:txBody>
      </p:sp>
      <p:sp>
        <p:nvSpPr>
          <p:cNvPr id="275" name="PlaceHolder 5"/>
          <p:cNvSpPr>
            <a:spLocks noGrp="1"/>
          </p:cNvSpPr>
          <p:nvPr>
            <p:ph type="ftr" idx="20"/>
          </p:nvPr>
        </p:nvSpPr>
        <p:spPr>
          <a:xfrm>
            <a:off x="0" y="10157400"/>
            <a:ext cx="3280680" cy="534240"/>
          </a:xfrm>
          <a:prstGeom prst="rect">
            <a:avLst/>
          </a:prstGeom>
          <a:noFill/>
          <a:ln w="0">
            <a:noFill/>
          </a:ln>
        </p:spPr>
        <p:txBody>
          <a:bodyPr lIns="0" tIns="0" rIns="0" bIns="0" anchor="b">
            <a:noAutofit/>
          </a:bodyPr>
          <a:lstStyle>
            <a:lvl1pPr indent="0">
              <a:buNone/>
              <a:defRPr lang="en-GB" sz="1400" b="0" u="none" strike="noStrike">
                <a:solidFill>
                  <a:srgbClr val="000000"/>
                </a:solidFill>
                <a:effectLst/>
                <a:uFillTx/>
                <a:latin typeface="Times New Roman"/>
              </a:defRPr>
            </a:lvl1pPr>
          </a:lstStyle>
          <a:p>
            <a:pPr indent="0">
              <a:buNone/>
            </a:pPr>
            <a:r>
              <a:rPr lang="en-GB" sz="1400" b="0" u="none" strike="noStrike">
                <a:solidFill>
                  <a:srgbClr val="000000"/>
                </a:solidFill>
                <a:effectLst/>
                <a:uFillTx/>
                <a:latin typeface="Times New Roman"/>
              </a:rPr>
              <a:t>&lt;footer&gt;</a:t>
            </a:r>
          </a:p>
        </p:txBody>
      </p:sp>
      <p:sp>
        <p:nvSpPr>
          <p:cNvPr id="276" name="PlaceHolder 6"/>
          <p:cNvSpPr>
            <a:spLocks noGrp="1"/>
          </p:cNvSpPr>
          <p:nvPr>
            <p:ph type="sldNum" idx="21"/>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EDB1D114-F711-4E1E-9075-DA1416EA947B}" type="slidenum">
              <a:rPr lang="en-GB" sz="1400" b="0" u="none" strike="noStrike">
                <a:solidFill>
                  <a:srgbClr val="000000"/>
                </a:solidFill>
                <a:effectLst/>
                <a:uFillTx/>
                <a:latin typeface="Times New Roman"/>
              </a:rPr>
              <a:t>‹#›</a:t>
            </a:fld>
            <a:endParaRPr lang="en-GB"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Quote - Violet_1_1_1">
    <p:bg>
      <p:bgPr>
        <a:solidFill>
          <a:schemeClr val="dk2"/>
        </a:solidFill>
        <a:effectLst/>
      </p:bgPr>
    </p:bg>
    <p:spTree>
      <p:nvGrpSpPr>
        <p:cNvPr id="1" name=""/>
        <p:cNvGrpSpPr/>
        <p:nvPr/>
      </p:nvGrpSpPr>
      <p:grpSpPr>
        <a:xfrm>
          <a:off x="0" y="0"/>
          <a:ext cx="0" cy="0"/>
          <a:chOff x="0" y="0"/>
          <a:chExt cx="0" cy="0"/>
        </a:xfrm>
      </p:grpSpPr>
      <p:sp>
        <p:nvSpPr>
          <p:cNvPr id="2"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3"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4" name="Google Shape;222;p25"/>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5" name="Google Shape;223;p2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 name="PlaceHolder 2"/>
          <p:cNvSpPr>
            <a:spLocks noGrp="1"/>
          </p:cNvSpPr>
          <p:nvPr>
            <p:ph type="sldNum" idx="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BE763172-5771-42D4-9AD3-4C4BF136D133}"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7" name="Google Shape;225;p25"/>
          <p:cNvGrpSpPr/>
          <p:nvPr/>
        </p:nvGrpSpPr>
        <p:grpSpPr>
          <a:xfrm>
            <a:off x="457200" y="474120"/>
            <a:ext cx="1174680" cy="855000"/>
            <a:chOff x="457200" y="474120"/>
            <a:chExt cx="1174680" cy="855000"/>
          </a:xfrm>
        </p:grpSpPr>
        <p:sp>
          <p:nvSpPr>
            <p:cNvPr id="8" name="Google Shape;226;p25"/>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 name="Google Shape;227;p25"/>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0"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Quote - Violet_1_1_1_3">
    <p:bg>
      <p:bgPr>
        <a:solidFill>
          <a:schemeClr val="lt1"/>
        </a:solidFill>
        <a:effectLst/>
      </p:bgPr>
    </p:bg>
    <p:spTree>
      <p:nvGrpSpPr>
        <p:cNvPr id="1" name=""/>
        <p:cNvGrpSpPr/>
        <p:nvPr/>
      </p:nvGrpSpPr>
      <p:grpSpPr>
        <a:xfrm>
          <a:off x="0" y="0"/>
          <a:ext cx="0" cy="0"/>
          <a:chOff x="0" y="0"/>
          <a:chExt cx="0" cy="0"/>
        </a:xfrm>
      </p:grpSpPr>
      <p:sp>
        <p:nvSpPr>
          <p:cNvPr id="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2"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000000"/>
              </a:buClr>
              <a:buSzPct val="45000"/>
              <a:buFont typeface="Wingdings" charset="2"/>
              <a:buChar char=""/>
            </a:pPr>
            <a:r>
              <a:rPr lang="en-GB" sz="4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4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4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4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Seventh Outline Level</a:t>
            </a:r>
          </a:p>
        </p:txBody>
      </p:sp>
      <p:grpSp>
        <p:nvGrpSpPr>
          <p:cNvPr id="13" name="Google Shape;231;p26"/>
          <p:cNvGrpSpPr/>
          <p:nvPr/>
        </p:nvGrpSpPr>
        <p:grpSpPr>
          <a:xfrm>
            <a:off x="457200" y="474120"/>
            <a:ext cx="1174680" cy="855000"/>
            <a:chOff x="457200" y="474120"/>
            <a:chExt cx="1174680" cy="855000"/>
          </a:xfrm>
        </p:grpSpPr>
        <p:sp>
          <p:nvSpPr>
            <p:cNvPr id="14" name="Google Shape;232;p26"/>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 name="Google Shape;233;p26"/>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6" name="PlaceHolder 2"/>
          <p:cNvSpPr>
            <a:spLocks noGrp="1"/>
          </p:cNvSpPr>
          <p:nvPr>
            <p:ph type="sldNum" idx="2"/>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23F25555-0D3B-4118-B6D1-18B49F2181B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7" name="Google Shape;236;p2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 name="Google Shape;237;p2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Quote - Violet_1_1_1_2">
    <p:bg>
      <p:bgPr>
        <a:solidFill>
          <a:schemeClr val="dk2"/>
        </a:solidFill>
        <a:effectLst/>
      </p:bgPr>
    </p:bg>
    <p:spTree>
      <p:nvGrpSpPr>
        <p:cNvPr id="1" name=""/>
        <p:cNvGrpSpPr/>
        <p:nvPr/>
      </p:nvGrpSpPr>
      <p:grpSpPr>
        <a:xfrm>
          <a:off x="0" y="0"/>
          <a:ext cx="0" cy="0"/>
          <a:chOff x="0" y="0"/>
          <a:chExt cx="0" cy="0"/>
        </a:xfrm>
      </p:grpSpPr>
      <p:sp>
        <p:nvSpPr>
          <p:cNvPr id="2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1" name="PlaceHolder 1"/>
          <p:cNvSpPr>
            <a:spLocks noGrp="1"/>
          </p:cNvSpPr>
          <p:nvPr>
            <p:ph type="body"/>
          </p:nvPr>
        </p:nvSpPr>
        <p:spPr>
          <a:xfrm>
            <a:off x="365760" y="1332000"/>
            <a:ext cx="607356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22" name="Google Shape;240;p27"/>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3" name="Google Shape;241;p2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 name="PlaceHolder 2"/>
          <p:cNvSpPr>
            <a:spLocks noGrp="1"/>
          </p:cNvSpPr>
          <p:nvPr>
            <p:ph type="sldNum" idx="3"/>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5F075116-C274-497A-AF51-628C61180B0D}"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25" name="Google Shape;243;p27"/>
          <p:cNvGrpSpPr/>
          <p:nvPr/>
        </p:nvGrpSpPr>
        <p:grpSpPr>
          <a:xfrm>
            <a:off x="457200" y="474120"/>
            <a:ext cx="1174680" cy="855000"/>
            <a:chOff x="457200" y="474120"/>
            <a:chExt cx="1174680" cy="855000"/>
          </a:xfrm>
        </p:grpSpPr>
        <p:sp>
          <p:nvSpPr>
            <p:cNvPr id="26" name="Google Shape;244;p27"/>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 name="Google Shape;245;p27"/>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28"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247"/>
        <p:cNvGrpSpPr/>
        <p:nvPr/>
      </p:nvGrpSpPr>
      <p:grpSpPr>
        <a:xfrm>
          <a:off x="0" y="0"/>
          <a:ext cx="0" cy="0"/>
          <a:chOff x="0" y="0"/>
          <a:chExt cx="0" cy="0"/>
        </a:xfrm>
      </p:grpSpPr>
      <p:sp>
        <p:nvSpPr>
          <p:cNvPr id="248" name="Google Shape;248;p28"/>
          <p:cNvSpPr/>
          <p:nvPr/>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8"/>
          <p:cNvSpPr txBox="1">
            <a:spLocks noGrp="1"/>
          </p:cNvSpPr>
          <p:nvPr>
            <p:ph type="title"/>
          </p:nvPr>
        </p:nvSpPr>
        <p:spPr>
          <a:xfrm>
            <a:off x="366550" y="274323"/>
            <a:ext cx="8348400" cy="366000"/>
          </a:xfrm>
          <a:prstGeom prst="rect">
            <a:avLst/>
          </a:prstGeom>
        </p:spPr>
        <p:txBody>
          <a:bodyPr spcFirstLastPara="1" wrap="square" lIns="91425" tIns="91425" rIns="91425" bIns="91425" anchor="t" anchorCtr="0">
            <a:spAutoFit/>
          </a:bodyPr>
          <a:lstStyle>
            <a:lvl1pPr lvl="0" rtl="0">
              <a:spcBef>
                <a:spcPts val="0"/>
              </a:spcBef>
              <a:spcAft>
                <a:spcPts val="0"/>
              </a:spcAft>
              <a:buSzPts val="2600"/>
              <a:buNone/>
              <a:defRPr/>
            </a:lvl1pPr>
            <a:lvl2pPr lvl="1" rtl="0">
              <a:spcBef>
                <a:spcPts val="1000"/>
              </a:spcBef>
              <a:spcAft>
                <a:spcPts val="0"/>
              </a:spcAft>
              <a:buSzPts val="1400"/>
              <a:buFont typeface="Arial"/>
              <a:buNone/>
              <a:defRPr>
                <a:latin typeface="Arial"/>
                <a:ea typeface="Arial"/>
                <a:cs typeface="Arial"/>
                <a:sym typeface="Arial"/>
              </a:defRPr>
            </a:lvl2pPr>
            <a:lvl3pPr lvl="2" rtl="0">
              <a:spcBef>
                <a:spcPts val="1000"/>
              </a:spcBef>
              <a:spcAft>
                <a:spcPts val="0"/>
              </a:spcAft>
              <a:buSzPts val="1400"/>
              <a:buFont typeface="Arial"/>
              <a:buNone/>
              <a:defRPr>
                <a:latin typeface="Arial"/>
                <a:ea typeface="Arial"/>
                <a:cs typeface="Arial"/>
                <a:sym typeface="Arial"/>
              </a:defRPr>
            </a:lvl3pPr>
            <a:lvl4pPr lvl="3" rtl="0">
              <a:spcBef>
                <a:spcPts val="1000"/>
              </a:spcBef>
              <a:spcAft>
                <a:spcPts val="0"/>
              </a:spcAft>
              <a:buSzPts val="1400"/>
              <a:buFont typeface="Arial"/>
              <a:buNone/>
              <a:defRPr>
                <a:latin typeface="Arial"/>
                <a:ea typeface="Arial"/>
                <a:cs typeface="Arial"/>
                <a:sym typeface="Arial"/>
              </a:defRPr>
            </a:lvl4pPr>
            <a:lvl5pPr lvl="4" rtl="0">
              <a:spcBef>
                <a:spcPts val="1000"/>
              </a:spcBef>
              <a:spcAft>
                <a:spcPts val="0"/>
              </a:spcAft>
              <a:buSzPts val="1400"/>
              <a:buFont typeface="Arial"/>
              <a:buNone/>
              <a:defRPr>
                <a:latin typeface="Arial"/>
                <a:ea typeface="Arial"/>
                <a:cs typeface="Arial"/>
                <a:sym typeface="Arial"/>
              </a:defRPr>
            </a:lvl5pPr>
            <a:lvl6pPr lvl="5" rtl="0">
              <a:spcBef>
                <a:spcPts val="1000"/>
              </a:spcBef>
              <a:spcAft>
                <a:spcPts val="0"/>
              </a:spcAft>
              <a:buSzPts val="1400"/>
              <a:buFont typeface="Arial"/>
              <a:buNone/>
              <a:defRPr>
                <a:latin typeface="Arial"/>
                <a:ea typeface="Arial"/>
                <a:cs typeface="Arial"/>
                <a:sym typeface="Arial"/>
              </a:defRPr>
            </a:lvl6pPr>
            <a:lvl7pPr lvl="6" rtl="0">
              <a:spcBef>
                <a:spcPts val="1000"/>
              </a:spcBef>
              <a:spcAft>
                <a:spcPts val="0"/>
              </a:spcAft>
              <a:buSzPts val="1400"/>
              <a:buFont typeface="Arial"/>
              <a:buNone/>
              <a:defRPr>
                <a:latin typeface="Arial"/>
                <a:ea typeface="Arial"/>
                <a:cs typeface="Arial"/>
                <a:sym typeface="Arial"/>
              </a:defRPr>
            </a:lvl7pPr>
            <a:lvl8pPr lvl="7" rtl="0">
              <a:spcBef>
                <a:spcPts val="1000"/>
              </a:spcBef>
              <a:spcAft>
                <a:spcPts val="0"/>
              </a:spcAft>
              <a:buSzPts val="1400"/>
              <a:buFont typeface="Arial"/>
              <a:buNone/>
              <a:defRPr>
                <a:latin typeface="Arial"/>
                <a:ea typeface="Arial"/>
                <a:cs typeface="Arial"/>
                <a:sym typeface="Arial"/>
              </a:defRPr>
            </a:lvl8pPr>
            <a:lvl9pPr lvl="8" rtl="0">
              <a:spcBef>
                <a:spcPts val="1000"/>
              </a:spcBef>
              <a:spcAft>
                <a:spcPts val="1000"/>
              </a:spcAft>
              <a:buSzPts val="1400"/>
              <a:buFont typeface="Arial"/>
              <a:buNone/>
              <a:defRPr>
                <a:latin typeface="Arial"/>
                <a:ea typeface="Arial"/>
                <a:cs typeface="Arial"/>
                <a:sym typeface="Arial"/>
              </a:defRPr>
            </a:lvl9pPr>
          </a:lstStyle>
          <a:p>
            <a:endParaRPr/>
          </a:p>
        </p:txBody>
      </p:sp>
      <p:sp>
        <p:nvSpPr>
          <p:cNvPr id="250" name="Google Shape;250;p28"/>
          <p:cNvSpPr/>
          <p:nvPr/>
        </p:nvSpPr>
        <p:spPr>
          <a:xfrm>
            <a:off x="660652" y="4866916"/>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a:solidFill>
                  <a:schemeClr val="lt1"/>
                </a:solidFill>
                <a:latin typeface="Arial"/>
                <a:ea typeface="Arial"/>
                <a:cs typeface="Arial"/>
                <a:sym typeface="Arial"/>
              </a:rPr>
              <a:t>© </a:t>
            </a:r>
            <a:r>
              <a:rPr lang="en" sz="600">
                <a:solidFill>
                  <a:schemeClr val="lt1"/>
                </a:solidFill>
              </a:rPr>
              <a:t>2026</a:t>
            </a:r>
            <a:r>
              <a:rPr lang="en" sz="600" b="0" i="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51" name="Google Shape;251;p28"/>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2" name="Google Shape;252;p28"/>
          <p:cNvSpPr txBox="1">
            <a:spLocks noGrp="1"/>
          </p:cNvSpPr>
          <p:nvPr>
            <p:ph type="sldNum" idx="12"/>
          </p:nvPr>
        </p:nvSpPr>
        <p:spPr>
          <a:xfrm>
            <a:off x="8229600" y="4866905"/>
            <a:ext cx="473700" cy="92400"/>
          </a:xfrm>
          <a:prstGeom prst="rect">
            <a:avLst/>
          </a:prstGeom>
          <a:noFill/>
          <a:ln>
            <a:noFill/>
          </a:ln>
        </p:spPr>
        <p:txBody>
          <a:bodyPr spcFirstLastPara="1" wrap="square" lIns="0" tIns="0" rIns="0" bIns="0" anchor="b" anchorCtr="0">
            <a:spAutoFit/>
          </a:bodyPr>
          <a:lstStyle>
            <a:lvl1pPr marL="0" marR="0" lvl="0" indent="0" algn="r" rtl="0">
              <a:spcBef>
                <a:spcPts val="0"/>
              </a:spcBef>
              <a:buNone/>
              <a:defRPr sz="600" i="0">
                <a:solidFill>
                  <a:srgbClr val="FFFFFF"/>
                </a:solidFill>
              </a:defRPr>
            </a:lvl1pPr>
            <a:lvl2pPr marL="0" marR="0" lvl="1" indent="0" algn="r" rtl="0">
              <a:spcBef>
                <a:spcPts val="0"/>
              </a:spcBef>
              <a:buNone/>
              <a:defRPr sz="600" i="0">
                <a:solidFill>
                  <a:srgbClr val="FFFFFF"/>
                </a:solidFill>
              </a:defRPr>
            </a:lvl2pPr>
            <a:lvl3pPr marL="0" marR="0" lvl="2" indent="0" algn="r" rtl="0">
              <a:spcBef>
                <a:spcPts val="0"/>
              </a:spcBef>
              <a:buNone/>
              <a:defRPr sz="600" i="0">
                <a:solidFill>
                  <a:srgbClr val="FFFFFF"/>
                </a:solidFill>
              </a:defRPr>
            </a:lvl3pPr>
            <a:lvl4pPr marL="0" marR="0" lvl="3" indent="0" algn="r" rtl="0">
              <a:spcBef>
                <a:spcPts val="0"/>
              </a:spcBef>
              <a:buNone/>
              <a:defRPr sz="600" i="0">
                <a:solidFill>
                  <a:srgbClr val="FFFFFF"/>
                </a:solidFill>
              </a:defRPr>
            </a:lvl4pPr>
            <a:lvl5pPr marL="0" marR="0" lvl="4" indent="0" algn="r" rtl="0">
              <a:spcBef>
                <a:spcPts val="0"/>
              </a:spcBef>
              <a:buNone/>
              <a:defRPr sz="600" i="0">
                <a:solidFill>
                  <a:srgbClr val="FFFFFF"/>
                </a:solidFill>
              </a:defRPr>
            </a:lvl5pPr>
            <a:lvl6pPr marL="0" marR="0" lvl="5" indent="0" algn="r" rtl="0">
              <a:spcBef>
                <a:spcPts val="0"/>
              </a:spcBef>
              <a:buNone/>
              <a:defRPr sz="600" i="0">
                <a:solidFill>
                  <a:srgbClr val="FFFFFF"/>
                </a:solidFill>
              </a:defRPr>
            </a:lvl6pPr>
            <a:lvl7pPr marL="0" marR="0" lvl="6" indent="0" algn="r" rtl="0">
              <a:spcBef>
                <a:spcPts val="0"/>
              </a:spcBef>
              <a:buNone/>
              <a:defRPr sz="600" i="0">
                <a:solidFill>
                  <a:srgbClr val="FFFFFF"/>
                </a:solidFill>
              </a:defRPr>
            </a:lvl7pPr>
            <a:lvl8pPr marL="0" marR="0" lvl="7" indent="0" algn="r" rtl="0">
              <a:spcBef>
                <a:spcPts val="0"/>
              </a:spcBef>
              <a:buNone/>
              <a:defRPr sz="600" i="0">
                <a:solidFill>
                  <a:srgbClr val="FFFFFF"/>
                </a:solidFill>
              </a:defRPr>
            </a:lvl8pPr>
            <a:lvl9pPr marL="0" marR="0" lvl="8" indent="0" algn="r" rtl="0">
              <a:spcBef>
                <a:spcPts val="0"/>
              </a:spcBef>
              <a:buNone/>
              <a:defRPr sz="600" i="0">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
        <p:nvSpPr>
          <p:cNvPr id="253" name="Google Shape;253;p28"/>
          <p:cNvSpPr/>
          <p:nvPr/>
        </p:nvSpPr>
        <p:spPr>
          <a:xfrm>
            <a:off x="0" y="343500"/>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73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ata Cloud_1_1">
    <p:bg>
      <p:bgPr>
        <a:solidFill>
          <a:schemeClr val="accent1"/>
        </a:solidFill>
        <a:effectLst/>
      </p:bgPr>
    </p:bg>
    <p:spTree>
      <p:nvGrpSpPr>
        <p:cNvPr id="1" name=""/>
        <p:cNvGrpSpPr/>
        <p:nvPr/>
      </p:nvGrpSpPr>
      <p:grpSpPr>
        <a:xfrm>
          <a:off x="0" y="0"/>
          <a:ext cx="0" cy="0"/>
          <a:chOff x="0" y="0"/>
          <a:chExt cx="0" cy="0"/>
        </a:xfrm>
      </p:grpSpPr>
      <p:sp>
        <p:nvSpPr>
          <p:cNvPr id="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30" name="Google Shape;137;p15"/>
          <p:cNvGrpSpPr/>
          <p:nvPr/>
        </p:nvGrpSpPr>
        <p:grpSpPr>
          <a:xfrm>
            <a:off x="0" y="3770280"/>
            <a:ext cx="9141120" cy="1368720"/>
            <a:chOff x="0" y="3770280"/>
            <a:chExt cx="9141120" cy="1368720"/>
          </a:xfrm>
        </p:grpSpPr>
        <p:pic>
          <p:nvPicPr>
            <p:cNvPr id="31" name="Google Shape;138;p15"/>
            <p:cNvPicPr/>
            <p:nvPr/>
          </p:nvPicPr>
          <p:blipFill>
            <a:blip r:embed="rId2"/>
            <a:stretch/>
          </p:blipFill>
          <p:spPr>
            <a:xfrm>
              <a:off x="0" y="3770280"/>
              <a:ext cx="3043440" cy="1368720"/>
            </a:xfrm>
            <a:prstGeom prst="rect">
              <a:avLst/>
            </a:prstGeom>
            <a:noFill/>
            <a:ln w="0">
              <a:noFill/>
            </a:ln>
          </p:spPr>
        </p:pic>
        <p:pic>
          <p:nvPicPr>
            <p:cNvPr id="32" name="Google Shape;139;p15"/>
            <p:cNvPicPr/>
            <p:nvPr/>
          </p:nvPicPr>
          <p:blipFill>
            <a:blip r:embed="rId3"/>
            <a:srcRect t="138" b="138"/>
            <a:stretch/>
          </p:blipFill>
          <p:spPr>
            <a:xfrm>
              <a:off x="3051000" y="3770280"/>
              <a:ext cx="3043440" cy="1368720"/>
            </a:xfrm>
            <a:prstGeom prst="rect">
              <a:avLst/>
            </a:prstGeom>
            <a:noFill/>
            <a:ln w="0">
              <a:noFill/>
            </a:ln>
          </p:spPr>
        </p:pic>
        <p:pic>
          <p:nvPicPr>
            <p:cNvPr id="33" name="Google Shape;140;p15"/>
            <p:cNvPicPr/>
            <p:nvPr/>
          </p:nvPicPr>
          <p:blipFill>
            <a:blip r:embed="rId4"/>
            <a:srcRect t="138" b="138"/>
            <a:stretch/>
          </p:blipFill>
          <p:spPr>
            <a:xfrm>
              <a:off x="6097680" y="3770280"/>
              <a:ext cx="3043440" cy="1368720"/>
            </a:xfrm>
            <a:prstGeom prst="rect">
              <a:avLst/>
            </a:prstGeom>
            <a:noFill/>
            <a:ln w="0">
              <a:noFill/>
            </a:ln>
          </p:spPr>
        </p:pic>
      </p:grpSp>
      <p:grpSp>
        <p:nvGrpSpPr>
          <p:cNvPr id="34" name="Google Shape;141;p15"/>
          <p:cNvGrpSpPr/>
          <p:nvPr/>
        </p:nvGrpSpPr>
        <p:grpSpPr>
          <a:xfrm>
            <a:off x="0" y="3770280"/>
            <a:ext cx="9141120" cy="1368720"/>
            <a:chOff x="0" y="3770280"/>
            <a:chExt cx="9141120" cy="1368720"/>
          </a:xfrm>
        </p:grpSpPr>
        <p:pic>
          <p:nvPicPr>
            <p:cNvPr id="35" name="Google Shape;142;p15"/>
            <p:cNvPicPr/>
            <p:nvPr/>
          </p:nvPicPr>
          <p:blipFill>
            <a:blip r:embed="rId2"/>
            <a:stretch/>
          </p:blipFill>
          <p:spPr>
            <a:xfrm>
              <a:off x="0" y="3770280"/>
              <a:ext cx="3043440" cy="1368720"/>
            </a:xfrm>
            <a:prstGeom prst="rect">
              <a:avLst/>
            </a:prstGeom>
            <a:noFill/>
            <a:ln w="0">
              <a:noFill/>
            </a:ln>
          </p:spPr>
        </p:pic>
        <p:pic>
          <p:nvPicPr>
            <p:cNvPr id="36" name="Google Shape;143;p15"/>
            <p:cNvPicPr/>
            <p:nvPr/>
          </p:nvPicPr>
          <p:blipFill>
            <a:blip r:embed="rId3"/>
            <a:srcRect t="138" b="138"/>
            <a:stretch/>
          </p:blipFill>
          <p:spPr>
            <a:xfrm>
              <a:off x="3051000" y="3770280"/>
              <a:ext cx="3043440" cy="1368720"/>
            </a:xfrm>
            <a:prstGeom prst="rect">
              <a:avLst/>
            </a:prstGeom>
            <a:noFill/>
            <a:ln w="0">
              <a:noFill/>
            </a:ln>
          </p:spPr>
        </p:pic>
        <p:pic>
          <p:nvPicPr>
            <p:cNvPr id="37" name="Google Shape;144;p15"/>
            <p:cNvPicPr/>
            <p:nvPr/>
          </p:nvPicPr>
          <p:blipFill>
            <a:blip r:embed="rId4"/>
            <a:srcRect t="138" b="138"/>
            <a:stretch/>
          </p:blipFill>
          <p:spPr>
            <a:xfrm>
              <a:off x="6097680" y="3770280"/>
              <a:ext cx="3043440" cy="1368720"/>
            </a:xfrm>
            <a:prstGeom prst="rect">
              <a:avLst/>
            </a:prstGeom>
            <a:noFill/>
            <a:ln w="0">
              <a:noFill/>
            </a:ln>
          </p:spPr>
        </p:pic>
      </p:grpSp>
      <p:sp>
        <p:nvSpPr>
          <p:cNvPr id="38" name="Google Shape;145;p15"/>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39" name="PlaceHolder 1"/>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40" name="PlaceHolder 2"/>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41" name="Google Shape;148;p15"/>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42" name="PlaceHolder 3"/>
          <p:cNvSpPr>
            <a:spLocks noGrp="1"/>
          </p:cNvSpPr>
          <p:nvPr>
            <p:ph type="title"/>
          </p:nvPr>
        </p:nvSpPr>
        <p:spPr>
          <a:xfrm>
            <a:off x="366480" y="1188720"/>
            <a:ext cx="740808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43"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Data Cloud_1_1_1">
    <p:bg>
      <p:bgPr>
        <a:solidFill>
          <a:schemeClr val="accent1"/>
        </a:solidFill>
        <a:effectLst/>
      </p:bgPr>
    </p:bg>
    <p:spTree>
      <p:nvGrpSpPr>
        <p:cNvPr id="1" name=""/>
        <p:cNvGrpSpPr/>
        <p:nvPr/>
      </p:nvGrpSpPr>
      <p:grpSpPr>
        <a:xfrm>
          <a:off x="0" y="0"/>
          <a:ext cx="0" cy="0"/>
          <a:chOff x="0" y="0"/>
          <a:chExt cx="0" cy="0"/>
        </a:xfrm>
      </p:grpSpPr>
      <p:sp>
        <p:nvSpPr>
          <p:cNvPr id="4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45" name="Google Shape;175;p19"/>
          <p:cNvGrpSpPr/>
          <p:nvPr/>
        </p:nvGrpSpPr>
        <p:grpSpPr>
          <a:xfrm>
            <a:off x="5110920" y="2880"/>
            <a:ext cx="1160280" cy="5154120"/>
            <a:chOff x="5110920" y="2880"/>
            <a:chExt cx="1160280" cy="5154120"/>
          </a:xfrm>
        </p:grpSpPr>
        <p:pic>
          <p:nvPicPr>
            <p:cNvPr id="46" name="Google Shape;176;p19"/>
            <p:cNvPicPr/>
            <p:nvPr/>
          </p:nvPicPr>
          <p:blipFill>
            <a:blip r:embed="rId2"/>
            <a:stretch/>
          </p:blipFill>
          <p:spPr>
            <a:xfrm rot="16200000">
              <a:off x="4404240" y="3290040"/>
              <a:ext cx="2573640" cy="1160280"/>
            </a:xfrm>
            <a:prstGeom prst="rect">
              <a:avLst/>
            </a:prstGeom>
            <a:noFill/>
            <a:ln w="0">
              <a:noFill/>
            </a:ln>
          </p:spPr>
        </p:pic>
        <p:pic>
          <p:nvPicPr>
            <p:cNvPr id="47" name="Google Shape;177;p19"/>
            <p:cNvPicPr/>
            <p:nvPr/>
          </p:nvPicPr>
          <p:blipFill>
            <a:blip r:embed="rId3"/>
            <a:srcRect t="138" b="138"/>
            <a:stretch/>
          </p:blipFill>
          <p:spPr>
            <a:xfrm rot="16200000">
              <a:off x="4404240" y="709560"/>
              <a:ext cx="2573640" cy="1160280"/>
            </a:xfrm>
            <a:prstGeom prst="rect">
              <a:avLst/>
            </a:prstGeom>
            <a:noFill/>
            <a:ln w="0">
              <a:noFill/>
            </a:ln>
          </p:spPr>
        </p:pic>
      </p:grpSp>
      <p:grpSp>
        <p:nvGrpSpPr>
          <p:cNvPr id="48" name="Google Shape;178;p19"/>
          <p:cNvGrpSpPr/>
          <p:nvPr/>
        </p:nvGrpSpPr>
        <p:grpSpPr>
          <a:xfrm>
            <a:off x="5110920" y="2880"/>
            <a:ext cx="1160280" cy="5154120"/>
            <a:chOff x="5110920" y="2880"/>
            <a:chExt cx="1160280" cy="5154120"/>
          </a:xfrm>
        </p:grpSpPr>
        <p:pic>
          <p:nvPicPr>
            <p:cNvPr id="49" name="Google Shape;179;p19"/>
            <p:cNvPicPr/>
            <p:nvPr/>
          </p:nvPicPr>
          <p:blipFill>
            <a:blip r:embed="rId2"/>
            <a:stretch/>
          </p:blipFill>
          <p:spPr>
            <a:xfrm rot="16200000">
              <a:off x="4404240" y="3290040"/>
              <a:ext cx="2573640" cy="1160280"/>
            </a:xfrm>
            <a:prstGeom prst="rect">
              <a:avLst/>
            </a:prstGeom>
            <a:noFill/>
            <a:ln w="0">
              <a:noFill/>
            </a:ln>
          </p:spPr>
        </p:pic>
        <p:pic>
          <p:nvPicPr>
            <p:cNvPr id="50" name="Google Shape;180;p19"/>
            <p:cNvPicPr/>
            <p:nvPr/>
          </p:nvPicPr>
          <p:blipFill>
            <a:blip r:embed="rId3"/>
            <a:srcRect t="138" b="138"/>
            <a:stretch/>
          </p:blipFill>
          <p:spPr>
            <a:xfrm rot="16200000">
              <a:off x="4404240" y="709560"/>
              <a:ext cx="2573640" cy="1160280"/>
            </a:xfrm>
            <a:prstGeom prst="rect">
              <a:avLst/>
            </a:prstGeom>
            <a:noFill/>
            <a:ln w="0">
              <a:noFill/>
            </a:ln>
          </p:spPr>
        </p:pic>
      </p:grpSp>
      <p:sp>
        <p:nvSpPr>
          <p:cNvPr id="51" name="PlaceHolder 1"/>
          <p:cNvSpPr>
            <a:spLocks noGrp="1"/>
          </p:cNvSpPr>
          <p:nvPr>
            <p:ph type="sldNum" idx="4"/>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B339C67B-4B18-477A-810F-B9CEC31F65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52" name="Google Shape;182;p19"/>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53" name="PlaceHolder 2"/>
          <p:cNvSpPr>
            <a:spLocks noGrp="1"/>
          </p:cNvSpPr>
          <p:nvPr>
            <p:ph type="title"/>
          </p:nvPr>
        </p:nvSpPr>
        <p:spPr>
          <a:xfrm>
            <a:off x="366480" y="1188720"/>
            <a:ext cx="572796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54" name="PlaceHolder 3"/>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55" name="PlaceHolder 4"/>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56" name="Google Shape;186;p19"/>
          <p:cNvSpPr/>
          <p:nvPr/>
        </p:nvSpPr>
        <p:spPr>
          <a:xfrm>
            <a:off x="6097680" y="0"/>
            <a:ext cx="3043800" cy="51408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7" name="Google Shape;187;p19"/>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8" name="PlaceHolder 5"/>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Data Cloud_1_1_3_1">
    <p:bg>
      <p:bgPr>
        <a:solidFill>
          <a:schemeClr val="accent1"/>
        </a:solidFill>
        <a:effectLst/>
      </p:bgPr>
    </p:bg>
    <p:spTree>
      <p:nvGrpSpPr>
        <p:cNvPr id="1" name=""/>
        <p:cNvGrpSpPr/>
        <p:nvPr/>
      </p:nvGrpSpPr>
      <p:grpSpPr>
        <a:xfrm>
          <a:off x="0" y="0"/>
          <a:ext cx="0" cy="0"/>
          <a:chOff x="0" y="0"/>
          <a:chExt cx="0" cy="0"/>
        </a:xfrm>
      </p:grpSpPr>
      <p:sp>
        <p:nvSpPr>
          <p:cNvPr id="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60" name="Google Shape;160;p17"/>
          <p:cNvGrpSpPr/>
          <p:nvPr/>
        </p:nvGrpSpPr>
        <p:grpSpPr>
          <a:xfrm>
            <a:off x="6431760" y="-6480"/>
            <a:ext cx="2744640" cy="5158800"/>
            <a:chOff x="6431760" y="-6480"/>
            <a:chExt cx="2744640" cy="5158800"/>
          </a:xfrm>
        </p:grpSpPr>
        <p:pic>
          <p:nvPicPr>
            <p:cNvPr id="61" name="Google Shape;161;p17"/>
            <p:cNvPicPr/>
            <p:nvPr/>
          </p:nvPicPr>
          <p:blipFill>
            <a:blip r:embed="rId2"/>
            <a:srcRect l="37876" t="24688" b="10225"/>
            <a:stretch/>
          </p:blipFill>
          <p:spPr>
            <a:xfrm rot="16200000">
              <a:off x="6233760" y="2221200"/>
              <a:ext cx="3129120" cy="2733120"/>
            </a:xfrm>
            <a:prstGeom prst="rect">
              <a:avLst/>
            </a:prstGeom>
            <a:noFill/>
            <a:ln w="0">
              <a:noFill/>
            </a:ln>
          </p:spPr>
        </p:pic>
        <p:pic>
          <p:nvPicPr>
            <p:cNvPr id="62" name="Google Shape;162;p17"/>
            <p:cNvPicPr/>
            <p:nvPr/>
          </p:nvPicPr>
          <p:blipFill>
            <a:blip r:embed="rId3"/>
            <a:srcRect t="25252" r="59813" b="9946"/>
            <a:stretch/>
          </p:blipFill>
          <p:spPr>
            <a:xfrm rot="16200000">
              <a:off x="6804720" y="-356040"/>
              <a:ext cx="2021760" cy="2721240"/>
            </a:xfrm>
            <a:prstGeom prst="rect">
              <a:avLst/>
            </a:prstGeom>
            <a:noFill/>
            <a:ln w="0">
              <a:noFill/>
            </a:ln>
          </p:spPr>
        </p:pic>
      </p:grpSp>
      <p:sp>
        <p:nvSpPr>
          <p:cNvPr id="63" name="Google Shape;163;p17"/>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64"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65"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66"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67" name="Google Shape;167;p17"/>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8"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hank You_1">
    <p:bg>
      <p:bgPr>
        <a:solidFill>
          <a:schemeClr val="accent1"/>
        </a:solidFill>
        <a:effectLst/>
      </p:bgPr>
    </p:bg>
    <p:spTree>
      <p:nvGrpSpPr>
        <p:cNvPr id="1" name=""/>
        <p:cNvGrpSpPr/>
        <p:nvPr/>
      </p:nvGrpSpPr>
      <p:grpSpPr>
        <a:xfrm>
          <a:off x="0" y="0"/>
          <a:ext cx="0" cy="0"/>
          <a:chOff x="0" y="0"/>
          <a:chExt cx="0" cy="0"/>
        </a:xfrm>
      </p:grpSpPr>
      <p:sp>
        <p:nvSpPr>
          <p:cNvPr id="6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70" name="Google Shape;259;p30"/>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71"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
        <p:nvSpPr>
          <p:cNvPr id="72" name="Google Shape;261;p30"/>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grpSp>
        <p:nvGrpSpPr>
          <p:cNvPr id="73" name="Google Shape;262;p30"/>
          <p:cNvGrpSpPr/>
          <p:nvPr/>
        </p:nvGrpSpPr>
        <p:grpSpPr>
          <a:xfrm>
            <a:off x="0" y="3770280"/>
            <a:ext cx="9141120" cy="1368720"/>
            <a:chOff x="0" y="3770280"/>
            <a:chExt cx="9141120" cy="1368720"/>
          </a:xfrm>
        </p:grpSpPr>
        <p:pic>
          <p:nvPicPr>
            <p:cNvPr id="74" name="Google Shape;263;p30"/>
            <p:cNvPicPr/>
            <p:nvPr/>
          </p:nvPicPr>
          <p:blipFill>
            <a:blip r:embed="rId2"/>
            <a:stretch/>
          </p:blipFill>
          <p:spPr>
            <a:xfrm>
              <a:off x="0" y="3770280"/>
              <a:ext cx="3043440" cy="1368720"/>
            </a:xfrm>
            <a:prstGeom prst="rect">
              <a:avLst/>
            </a:prstGeom>
            <a:noFill/>
            <a:ln w="0">
              <a:noFill/>
            </a:ln>
          </p:spPr>
        </p:pic>
        <p:pic>
          <p:nvPicPr>
            <p:cNvPr id="75" name="Google Shape;264;p30"/>
            <p:cNvPicPr/>
            <p:nvPr/>
          </p:nvPicPr>
          <p:blipFill>
            <a:blip r:embed="rId3"/>
            <a:srcRect t="138" b="138"/>
            <a:stretch/>
          </p:blipFill>
          <p:spPr>
            <a:xfrm>
              <a:off x="3051000" y="3770280"/>
              <a:ext cx="3043440" cy="1368720"/>
            </a:xfrm>
            <a:prstGeom prst="rect">
              <a:avLst/>
            </a:prstGeom>
            <a:noFill/>
            <a:ln w="0">
              <a:noFill/>
            </a:ln>
          </p:spPr>
        </p:pic>
        <p:pic>
          <p:nvPicPr>
            <p:cNvPr id="76" name="Google Shape;265;p30"/>
            <p:cNvPicPr/>
            <p:nvPr/>
          </p:nvPicPr>
          <p:blipFill>
            <a:blip r:embed="rId4"/>
            <a:srcRect t="138" b="138"/>
            <a:stretch/>
          </p:blipFill>
          <p:spPr>
            <a:xfrm>
              <a:off x="6097680" y="3770280"/>
              <a:ext cx="3043440" cy="1368720"/>
            </a:xfrm>
            <a:prstGeom prst="rect">
              <a:avLst/>
            </a:prstGeom>
            <a:noFill/>
            <a:ln w="0">
              <a:noFill/>
            </a:ln>
          </p:spPr>
        </p:pic>
      </p:grpSp>
      <p:sp>
        <p:nvSpPr>
          <p:cNvPr id="77" name="PlaceHolder 2"/>
          <p:cNvSpPr>
            <a:spLocks noGrp="1"/>
          </p:cNvSpPr>
          <p:nvPr>
            <p:ph type="title"/>
          </p:nvPr>
        </p:nvSpPr>
        <p:spPr>
          <a:xfrm>
            <a:off x="457200" y="205200"/>
            <a:ext cx="8228160" cy="857520"/>
          </a:xfrm>
          <a:prstGeom prst="rect">
            <a:avLst/>
          </a:prstGeom>
          <a:noFill/>
          <a:ln w="0">
            <a:noFill/>
          </a:ln>
        </p:spPr>
        <p:txBody>
          <a:bodyPr lIns="0" tIns="0" rIns="0" bIns="0" anchor="ctr">
            <a:noAutofit/>
          </a:bodyPr>
          <a:lstStyle/>
          <a:p>
            <a:pPr indent="0" algn="ctr">
              <a:lnSpc>
                <a:spcPct val="100000"/>
              </a:lnSpc>
              <a:buNone/>
              <a:tabLst>
                <a:tab pos="0" algn="l"/>
              </a:tabLst>
            </a:pPr>
            <a:r>
              <a:rPr lang="en-GB" sz="4400" b="0" u="none" strike="noStrike">
                <a:solidFill>
                  <a:srgbClr val="000000"/>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Data Cloud_1_1_3_2">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Quote - Violet_1_1_2_1">
    <p:bg>
      <p:bgPr>
        <a:solidFill>
          <a:schemeClr val="dk2"/>
        </a:solidFill>
        <a:effectLst/>
      </p:bgPr>
    </p:bg>
    <p:spTree>
      <p:nvGrpSpPr>
        <p:cNvPr id="1" name=""/>
        <p:cNvGrpSpPr/>
        <p:nvPr/>
      </p:nvGrpSpPr>
      <p:grpSpPr>
        <a:xfrm>
          <a:off x="0" y="0"/>
          <a:ext cx="0" cy="0"/>
          <a:chOff x="0" y="0"/>
          <a:chExt cx="0" cy="0"/>
        </a:xfrm>
      </p:grpSpPr>
      <p:sp>
        <p:nvSpPr>
          <p:cNvPr id="8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85" name="Google Shape;193;p21"/>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86" name="Google Shape;194;p2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87" name="Google Shape;195;p21"/>
          <p:cNvPicPr/>
          <p:nvPr/>
        </p:nvPicPr>
        <p:blipFill>
          <a:blip r:embed="rId2">
            <a:alphaModFix amt="27000"/>
          </a:blip>
          <a:srcRect l="21460"/>
          <a:stretch/>
        </p:blipFill>
        <p:spPr>
          <a:xfrm flipH="1">
            <a:off x="7050960" y="1780200"/>
            <a:ext cx="2093040" cy="2903040"/>
          </a:xfrm>
          <a:prstGeom prst="rect">
            <a:avLst/>
          </a:prstGeom>
          <a:noFill/>
          <a:ln w="0">
            <a:noFill/>
          </a:ln>
        </p:spPr>
      </p:pic>
      <p:pic>
        <p:nvPicPr>
          <p:cNvPr id="88" name="Google Shape;196;p21"/>
          <p:cNvPicPr/>
          <p:nvPr/>
        </p:nvPicPr>
        <p:blipFill>
          <a:blip r:embed="rId3"/>
          <a:srcRect l="20776" t="10977"/>
          <a:stretch/>
        </p:blipFill>
        <p:spPr>
          <a:xfrm>
            <a:off x="0" y="0"/>
            <a:ext cx="1317240" cy="1612440"/>
          </a:xfrm>
          <a:prstGeom prst="rect">
            <a:avLst/>
          </a:prstGeom>
          <a:noFill/>
          <a:ln w="0">
            <a:noFill/>
          </a:ln>
        </p:spPr>
      </p:pic>
      <p:sp>
        <p:nvSpPr>
          <p:cNvPr id="8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Quote - Violet_1_1_2_1_1">
    <p:bg>
      <p:bgPr>
        <a:solidFill>
          <a:schemeClr val="dk2"/>
        </a:solidFill>
        <a:effectLst/>
      </p:bgPr>
    </p:bg>
    <p:spTree>
      <p:nvGrpSpPr>
        <p:cNvPr id="1" name=""/>
        <p:cNvGrpSpPr/>
        <p:nvPr/>
      </p:nvGrpSpPr>
      <p:grpSpPr>
        <a:xfrm>
          <a:off x="0" y="0"/>
          <a:ext cx="0" cy="0"/>
          <a:chOff x="0" y="0"/>
          <a:chExt cx="0" cy="0"/>
        </a:xfrm>
      </p:grpSpPr>
      <p:sp>
        <p:nvSpPr>
          <p:cNvPr id="9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grpSp>
        <p:nvGrpSpPr>
          <p:cNvPr id="92" name="Google Shape;199;p22"/>
          <p:cNvGrpSpPr/>
          <p:nvPr/>
        </p:nvGrpSpPr>
        <p:grpSpPr>
          <a:xfrm>
            <a:off x="0" y="3770280"/>
            <a:ext cx="9141120" cy="1368720"/>
            <a:chOff x="0" y="3770280"/>
            <a:chExt cx="9141120" cy="1368720"/>
          </a:xfrm>
        </p:grpSpPr>
        <p:pic>
          <p:nvPicPr>
            <p:cNvPr id="93" name="Google Shape;200;p22"/>
            <p:cNvPicPr/>
            <p:nvPr/>
          </p:nvPicPr>
          <p:blipFill>
            <a:blip r:embed="rId2">
              <a:alphaModFix amt="72000"/>
            </a:blip>
            <a:stretch/>
          </p:blipFill>
          <p:spPr>
            <a:xfrm>
              <a:off x="0" y="3770280"/>
              <a:ext cx="3043440" cy="1368720"/>
            </a:xfrm>
            <a:prstGeom prst="rect">
              <a:avLst/>
            </a:prstGeom>
            <a:noFill/>
            <a:ln w="0">
              <a:noFill/>
            </a:ln>
          </p:spPr>
        </p:pic>
        <p:pic>
          <p:nvPicPr>
            <p:cNvPr id="94" name="Google Shape;201;p22"/>
            <p:cNvPicPr/>
            <p:nvPr/>
          </p:nvPicPr>
          <p:blipFill>
            <a:blip r:embed="rId3">
              <a:alphaModFix amt="72000"/>
            </a:blip>
            <a:srcRect t="138" b="138"/>
            <a:stretch/>
          </p:blipFill>
          <p:spPr>
            <a:xfrm>
              <a:off x="3051000" y="3770280"/>
              <a:ext cx="3043440" cy="1368720"/>
            </a:xfrm>
            <a:prstGeom prst="rect">
              <a:avLst/>
            </a:prstGeom>
            <a:noFill/>
            <a:ln w="0">
              <a:noFill/>
            </a:ln>
          </p:spPr>
        </p:pic>
        <p:pic>
          <p:nvPicPr>
            <p:cNvPr id="95" name="Google Shape;202;p22"/>
            <p:cNvPicPr/>
            <p:nvPr/>
          </p:nvPicPr>
          <p:blipFill>
            <a:blip r:embed="rId4">
              <a:alphaModFix amt="72000"/>
            </a:blip>
            <a:srcRect t="138" b="138"/>
            <a:stretch/>
          </p:blipFill>
          <p:spPr>
            <a:xfrm>
              <a:off x="6097680" y="3770280"/>
              <a:ext cx="3043440" cy="1368720"/>
            </a:xfrm>
            <a:prstGeom prst="rect">
              <a:avLst/>
            </a:prstGeom>
            <a:noFill/>
            <a:ln w="0">
              <a:noFill/>
            </a:ln>
          </p:spPr>
        </p:pic>
      </p:grpSp>
      <p:sp>
        <p:nvSpPr>
          <p:cNvPr id="96" name="Google Shape;203;p22"/>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97" name="Google Shape;204;p2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8"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9"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0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01" name="Google Shape;248;p28"/>
          <p:cNvSpPr/>
          <p:nvPr/>
        </p:nvSpPr>
        <p:spPr>
          <a:xfrm>
            <a:off x="0" y="1120320"/>
            <a:ext cx="9141120" cy="402048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02" name="PlaceHolder 1"/>
          <p:cNvSpPr>
            <a:spLocks noGrp="1"/>
          </p:cNvSpPr>
          <p:nvPr>
            <p:ph type="title"/>
          </p:nvPr>
        </p:nvSpPr>
        <p:spPr>
          <a:xfrm>
            <a:off x="36648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03" name="Google Shape;250;p28"/>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04" name="Google Shape;251;p2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5" name="PlaceHolder 2"/>
          <p:cNvSpPr>
            <a:spLocks noGrp="1"/>
          </p:cNvSpPr>
          <p:nvPr>
            <p:ph type="sldNum" idx="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8EC84266-43A1-4D7D-B9BB-125B59B9308F}"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106" name="Google Shape;253;p2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Quote - Violet_1_1_2_1_1_1">
    <p:bg>
      <p:bgPr>
        <a:solidFill>
          <a:schemeClr val="dk2"/>
        </a:solidFill>
        <a:effectLst/>
      </p:bgPr>
    </p:bg>
    <p:spTree>
      <p:nvGrpSpPr>
        <p:cNvPr id="1" name=""/>
        <p:cNvGrpSpPr/>
        <p:nvPr/>
      </p:nvGrpSpPr>
      <p:grpSpPr>
        <a:xfrm>
          <a:off x="0" y="0"/>
          <a:ext cx="0" cy="0"/>
          <a:chOff x="0" y="0"/>
          <a:chExt cx="0" cy="0"/>
        </a:xfrm>
      </p:grpSpPr>
      <p:sp>
        <p:nvSpPr>
          <p:cNvPr id="10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09" name="Google Shape;207;p23"/>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10" name="Google Shape;208;p2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11" name="Google Shape;209;p23"/>
          <p:cNvGrpSpPr/>
          <p:nvPr/>
        </p:nvGrpSpPr>
        <p:grpSpPr>
          <a:xfrm>
            <a:off x="2880" y="1803960"/>
            <a:ext cx="9141120" cy="3336480"/>
            <a:chOff x="2880" y="1803960"/>
            <a:chExt cx="9141120" cy="3336480"/>
          </a:xfrm>
        </p:grpSpPr>
        <p:pic>
          <p:nvPicPr>
            <p:cNvPr id="112" name="Google Shape;210;p23"/>
            <p:cNvPicPr/>
            <p:nvPr/>
          </p:nvPicPr>
          <p:blipFill>
            <a:blip r:embed="rId2">
              <a:alphaModFix amt="57000"/>
            </a:blip>
            <a:srcRect l="32574" b="34220"/>
            <a:stretch/>
          </p:blipFill>
          <p:spPr>
            <a:xfrm flipH="1">
              <a:off x="5039640" y="1803960"/>
              <a:ext cx="4104360" cy="3336480"/>
            </a:xfrm>
            <a:prstGeom prst="rect">
              <a:avLst/>
            </a:prstGeom>
            <a:noFill/>
            <a:ln w="0">
              <a:noFill/>
            </a:ln>
          </p:spPr>
        </p:pic>
        <p:pic>
          <p:nvPicPr>
            <p:cNvPr id="113" name="Google Shape;211;p23"/>
            <p:cNvPicPr/>
            <p:nvPr/>
          </p:nvPicPr>
          <p:blipFill>
            <a:blip r:embed="rId3">
              <a:alphaModFix amt="57000"/>
            </a:blip>
            <a:srcRect r="17482" b="34224"/>
            <a:stretch/>
          </p:blipFill>
          <p:spPr>
            <a:xfrm flipH="1">
              <a:off x="2880" y="1803960"/>
              <a:ext cx="5024880" cy="3336480"/>
            </a:xfrm>
            <a:prstGeom prst="rect">
              <a:avLst/>
            </a:prstGeom>
            <a:noFill/>
            <a:ln w="0">
              <a:noFill/>
            </a:ln>
          </p:spPr>
        </p:pic>
      </p:grpSp>
      <p:sp>
        <p:nvSpPr>
          <p:cNvPr id="114"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15"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One Column Layout">
    <p:bg>
      <p:bgPr>
        <a:solidFill>
          <a:schemeClr val="lt1"/>
        </a:solidFill>
        <a:effectLst/>
      </p:bgPr>
    </p:bg>
    <p:spTree>
      <p:nvGrpSpPr>
        <p:cNvPr id="1" name=""/>
        <p:cNvGrpSpPr/>
        <p:nvPr/>
      </p:nvGrpSpPr>
      <p:grpSpPr>
        <a:xfrm>
          <a:off x="0" y="0"/>
          <a:ext cx="0" cy="0"/>
          <a:chOff x="0" y="0"/>
          <a:chExt cx="0" cy="0"/>
        </a:xfrm>
      </p:grpSpPr>
      <p:sp>
        <p:nvSpPr>
          <p:cNvPr id="116"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17" name="PlaceHolder 1"/>
          <p:cNvSpPr>
            <a:spLocks noGrp="1"/>
          </p:cNvSpPr>
          <p:nvPr>
            <p:ph type="body"/>
          </p:nvPr>
        </p:nvSpPr>
        <p:spPr>
          <a:xfrm>
            <a:off x="365760" y="1371600"/>
            <a:ext cx="6258600" cy="2535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18" name="PlaceHolder 2"/>
          <p:cNvSpPr>
            <a:spLocks noGrp="1"/>
          </p:cNvSpPr>
          <p:nvPr>
            <p:ph type="title"/>
          </p:nvPr>
        </p:nvSpPr>
        <p:spPr>
          <a:xfrm>
            <a:off x="365760" y="274320"/>
            <a:ext cx="831816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19" name="PlaceHolder 3"/>
          <p:cNvSpPr>
            <a:spLocks noGrp="1"/>
          </p:cNvSpPr>
          <p:nvPr>
            <p:ph type="sldNum" idx="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06A37DB-B197-40A1-B9F5-9F25DC482E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20" name="Google Shape;63;p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21" name="Google Shape;64;p7"/>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22" name="Google Shape;66;p7"/>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Quote - Violet_1_1_2_1_1_1_1">
    <p:bg>
      <p:bgPr>
        <a:solidFill>
          <a:schemeClr val="dk2"/>
        </a:solidFill>
        <a:effectLst/>
      </p:bgPr>
    </p:bg>
    <p:spTree>
      <p:nvGrpSpPr>
        <p:cNvPr id="1" name=""/>
        <p:cNvGrpSpPr/>
        <p:nvPr/>
      </p:nvGrpSpPr>
      <p:grpSpPr>
        <a:xfrm>
          <a:off x="0" y="0"/>
          <a:ext cx="0" cy="0"/>
          <a:chOff x="0" y="0"/>
          <a:chExt cx="0" cy="0"/>
        </a:xfrm>
      </p:grpSpPr>
      <p:sp>
        <p:nvSpPr>
          <p:cNvPr id="12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24" name="Google Shape;214;p24"/>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25" name="Google Shape;215;p2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26" name="Google Shape;216;p24"/>
          <p:cNvGrpSpPr/>
          <p:nvPr/>
        </p:nvGrpSpPr>
        <p:grpSpPr>
          <a:xfrm>
            <a:off x="6431760" y="-6480"/>
            <a:ext cx="2744640" cy="5158800"/>
            <a:chOff x="6431760" y="-6480"/>
            <a:chExt cx="2744640" cy="5158800"/>
          </a:xfrm>
        </p:grpSpPr>
        <p:pic>
          <p:nvPicPr>
            <p:cNvPr id="127" name="Google Shape;217;p24"/>
            <p:cNvPicPr/>
            <p:nvPr/>
          </p:nvPicPr>
          <p:blipFill>
            <a:blip r:embed="rId2">
              <a:alphaModFix amt="58000"/>
            </a:blip>
            <a:srcRect l="37876" t="24688" b="10225"/>
            <a:stretch/>
          </p:blipFill>
          <p:spPr>
            <a:xfrm rot="16200000">
              <a:off x="6233760" y="2221200"/>
              <a:ext cx="3129120" cy="2733120"/>
            </a:xfrm>
            <a:prstGeom prst="rect">
              <a:avLst/>
            </a:prstGeom>
            <a:noFill/>
            <a:ln w="0">
              <a:noFill/>
            </a:ln>
          </p:spPr>
        </p:pic>
        <p:pic>
          <p:nvPicPr>
            <p:cNvPr id="128" name="Google Shape;218;p24"/>
            <p:cNvPicPr/>
            <p:nvPr/>
          </p:nvPicPr>
          <p:blipFill>
            <a:blip r:embed="rId3">
              <a:alphaModFix amt="58000"/>
            </a:blip>
            <a:srcRect t="25252" r="59813" b="9946"/>
            <a:stretch/>
          </p:blipFill>
          <p:spPr>
            <a:xfrm rot="16200000">
              <a:off x="6804720" y="-356040"/>
              <a:ext cx="2021760" cy="2721240"/>
            </a:xfrm>
            <a:prstGeom prst="rect">
              <a:avLst/>
            </a:prstGeom>
            <a:noFill/>
            <a:ln w="0">
              <a:noFill/>
            </a:ln>
          </p:spPr>
        </p:pic>
      </p:grpSp>
      <p:sp>
        <p:nvSpPr>
          <p:cNvPr id="12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3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hank You">
    <p:bg>
      <p:bgPr>
        <a:solidFill>
          <a:schemeClr val="accent1"/>
        </a:solidFill>
        <a:effectLst/>
      </p:bgPr>
    </p:bg>
    <p:spTree>
      <p:nvGrpSpPr>
        <p:cNvPr id="1" name=""/>
        <p:cNvGrpSpPr/>
        <p:nvPr/>
      </p:nvGrpSpPr>
      <p:grpSpPr>
        <a:xfrm>
          <a:off x="0" y="0"/>
          <a:ext cx="0" cy="0"/>
          <a:chOff x="0" y="0"/>
          <a:chExt cx="0" cy="0"/>
        </a:xfrm>
      </p:grpSpPr>
      <p:sp>
        <p:nvSpPr>
          <p:cNvPr id="13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32" name="Google Shape;255;p29"/>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33" name="Google Shape;256;p29"/>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34"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ulti-use layout_1">
    <p:bg>
      <p:bgPr>
        <a:solidFill>
          <a:schemeClr val="lt1"/>
        </a:solidFill>
        <a:effectLst/>
      </p:bgPr>
    </p:bg>
    <p:spTree>
      <p:nvGrpSpPr>
        <p:cNvPr id="1" name=""/>
        <p:cNvGrpSpPr/>
        <p:nvPr/>
      </p:nvGrpSpPr>
      <p:grpSpPr>
        <a:xfrm>
          <a:off x="0" y="0"/>
          <a:ext cx="0" cy="0"/>
          <a:chOff x="0" y="0"/>
          <a:chExt cx="0" cy="0"/>
        </a:xfrm>
      </p:grpSpPr>
      <p:sp>
        <p:nvSpPr>
          <p:cNvPr id="13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36" name="Google Shape;27;p4"/>
          <p:cNvGrpSpPr/>
          <p:nvPr/>
        </p:nvGrpSpPr>
        <p:grpSpPr>
          <a:xfrm>
            <a:off x="0" y="3762000"/>
            <a:ext cx="9141120" cy="1368720"/>
            <a:chOff x="0" y="3762000"/>
            <a:chExt cx="9141120" cy="1368720"/>
          </a:xfrm>
        </p:grpSpPr>
        <p:pic>
          <p:nvPicPr>
            <p:cNvPr id="137" name="Google Shape;28;p4"/>
            <p:cNvPicPr/>
            <p:nvPr/>
          </p:nvPicPr>
          <p:blipFill>
            <a:blip r:embed="rId2">
              <a:alphaModFix amt="29000"/>
            </a:blip>
            <a:srcRect t="138" b="138"/>
            <a:stretch/>
          </p:blipFill>
          <p:spPr>
            <a:xfrm>
              <a:off x="0" y="3762000"/>
              <a:ext cx="3043440" cy="1368720"/>
            </a:xfrm>
            <a:prstGeom prst="rect">
              <a:avLst/>
            </a:prstGeom>
            <a:noFill/>
            <a:ln w="0">
              <a:noFill/>
            </a:ln>
          </p:spPr>
        </p:pic>
        <p:pic>
          <p:nvPicPr>
            <p:cNvPr id="138" name="Google Shape;29;p4"/>
            <p:cNvPicPr/>
            <p:nvPr/>
          </p:nvPicPr>
          <p:blipFill>
            <a:blip r:embed="rId3">
              <a:alphaModFix amt="29000"/>
            </a:blip>
            <a:srcRect t="138" b="138"/>
            <a:stretch/>
          </p:blipFill>
          <p:spPr>
            <a:xfrm>
              <a:off x="3051000" y="3762000"/>
              <a:ext cx="3043440" cy="1368720"/>
            </a:xfrm>
            <a:prstGeom prst="rect">
              <a:avLst/>
            </a:prstGeom>
            <a:noFill/>
            <a:ln w="0">
              <a:noFill/>
            </a:ln>
          </p:spPr>
        </p:pic>
        <p:pic>
          <p:nvPicPr>
            <p:cNvPr id="139" name="Google Shape;30;p4"/>
            <p:cNvPicPr/>
            <p:nvPr/>
          </p:nvPicPr>
          <p:blipFill>
            <a:blip r:embed="rId4">
              <a:alphaModFix amt="29000"/>
            </a:blip>
            <a:srcRect t="138" b="138"/>
            <a:stretch/>
          </p:blipFill>
          <p:spPr>
            <a:xfrm>
              <a:off x="6097680" y="3762000"/>
              <a:ext cx="3043440" cy="1368720"/>
            </a:xfrm>
            <a:prstGeom prst="rect">
              <a:avLst/>
            </a:prstGeom>
            <a:noFill/>
            <a:ln w="0">
              <a:noFill/>
            </a:ln>
          </p:spPr>
        </p:pic>
      </p:grpSp>
      <p:sp>
        <p:nvSpPr>
          <p:cNvPr id="140" name="PlaceHolder 1"/>
          <p:cNvSpPr>
            <a:spLocks noGrp="1"/>
          </p:cNvSpPr>
          <p:nvPr>
            <p:ph type="sldNum" idx="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FE33C91-3A39-4C44-8788-8831B2A5D3E6}"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41" name="Google Shape;32;p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2"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43" name="Google Shape;35;p4"/>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4" name="Google Shape;36;p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45" name="Google Shape;37;p4"/>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6"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ulti-use layout_1_1">
    <p:bg>
      <p:bgPr>
        <a:solidFill>
          <a:schemeClr val="lt1"/>
        </a:solidFill>
        <a:effectLst/>
      </p:bgPr>
    </p:bg>
    <p:spTree>
      <p:nvGrpSpPr>
        <p:cNvPr id="1" name=""/>
        <p:cNvGrpSpPr/>
        <p:nvPr/>
      </p:nvGrpSpPr>
      <p:grpSpPr>
        <a:xfrm>
          <a:off x="0" y="0"/>
          <a:ext cx="0" cy="0"/>
          <a:chOff x="0" y="0"/>
          <a:chExt cx="0" cy="0"/>
        </a:xfrm>
      </p:grpSpPr>
      <p:sp>
        <p:nvSpPr>
          <p:cNvPr id="14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48" name="Google Shape;39;p5"/>
          <p:cNvGrpSpPr/>
          <p:nvPr/>
        </p:nvGrpSpPr>
        <p:grpSpPr>
          <a:xfrm>
            <a:off x="0" y="4370400"/>
            <a:ext cx="9141120" cy="770040"/>
            <a:chOff x="0" y="4370400"/>
            <a:chExt cx="9141120" cy="770040"/>
          </a:xfrm>
        </p:grpSpPr>
        <p:pic>
          <p:nvPicPr>
            <p:cNvPr id="149" name="Google Shape;40;p5"/>
            <p:cNvPicPr/>
            <p:nvPr/>
          </p:nvPicPr>
          <p:blipFill>
            <a:blip r:embed="rId2">
              <a:alphaModFix amt="29000"/>
            </a:blip>
            <a:srcRect t="138" b="43623"/>
            <a:stretch/>
          </p:blipFill>
          <p:spPr>
            <a:xfrm>
              <a:off x="0" y="4370400"/>
              <a:ext cx="3043440" cy="770040"/>
            </a:xfrm>
            <a:prstGeom prst="rect">
              <a:avLst/>
            </a:prstGeom>
            <a:noFill/>
            <a:ln w="0">
              <a:noFill/>
            </a:ln>
          </p:spPr>
        </p:pic>
        <p:pic>
          <p:nvPicPr>
            <p:cNvPr id="150" name="Google Shape;41;p5"/>
            <p:cNvPicPr/>
            <p:nvPr/>
          </p:nvPicPr>
          <p:blipFill>
            <a:blip r:embed="rId3">
              <a:alphaModFix amt="29000"/>
            </a:blip>
            <a:srcRect t="138" b="43623"/>
            <a:stretch/>
          </p:blipFill>
          <p:spPr>
            <a:xfrm>
              <a:off x="3051000" y="4370400"/>
              <a:ext cx="3043440" cy="770040"/>
            </a:xfrm>
            <a:prstGeom prst="rect">
              <a:avLst/>
            </a:prstGeom>
            <a:noFill/>
            <a:ln w="0">
              <a:noFill/>
            </a:ln>
          </p:spPr>
        </p:pic>
        <p:pic>
          <p:nvPicPr>
            <p:cNvPr id="151" name="Google Shape;42;p5"/>
            <p:cNvPicPr/>
            <p:nvPr/>
          </p:nvPicPr>
          <p:blipFill>
            <a:blip r:embed="rId4">
              <a:alphaModFix amt="29000"/>
            </a:blip>
            <a:srcRect t="138" b="43623"/>
            <a:stretch/>
          </p:blipFill>
          <p:spPr>
            <a:xfrm>
              <a:off x="6097680" y="4370400"/>
              <a:ext cx="3043440" cy="770040"/>
            </a:xfrm>
            <a:prstGeom prst="rect">
              <a:avLst/>
            </a:prstGeom>
            <a:noFill/>
            <a:ln w="0">
              <a:noFill/>
            </a:ln>
          </p:spPr>
        </p:pic>
      </p:grpSp>
      <p:sp>
        <p:nvSpPr>
          <p:cNvPr id="152" name="PlaceHolder 1"/>
          <p:cNvSpPr>
            <a:spLocks noGrp="1"/>
          </p:cNvSpPr>
          <p:nvPr>
            <p:ph type="sldNum" idx="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E88EF71F-1C86-45D4-B33D-E867BB467D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53" name="Google Shape;44;p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4"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55" name="Google Shape;47;p5"/>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6" name="Google Shape;48;p5"/>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57" name="Google Shape;49;p5"/>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ulti-use layout_1_1_1">
    <p:bg>
      <p:bgPr>
        <a:solidFill>
          <a:schemeClr val="lt1"/>
        </a:solidFill>
        <a:effectLst/>
      </p:bgPr>
    </p:bg>
    <p:spTree>
      <p:nvGrpSpPr>
        <p:cNvPr id="1" name=""/>
        <p:cNvGrpSpPr/>
        <p:nvPr/>
      </p:nvGrpSpPr>
      <p:grpSpPr>
        <a:xfrm>
          <a:off x="0" y="0"/>
          <a:ext cx="0" cy="0"/>
          <a:chOff x="0" y="0"/>
          <a:chExt cx="0" cy="0"/>
        </a:xfrm>
      </p:grpSpPr>
      <p:sp>
        <p:nvSpPr>
          <p:cNvPr id="1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pic>
        <p:nvPicPr>
          <p:cNvPr id="160" name="Google Shape;51;p6"/>
          <p:cNvPicPr/>
          <p:nvPr/>
        </p:nvPicPr>
        <p:blipFill>
          <a:blip r:embed="rId2"/>
          <a:srcRect l="22822"/>
          <a:stretch/>
        </p:blipFill>
        <p:spPr>
          <a:xfrm flipH="1">
            <a:off x="7785360" y="2935800"/>
            <a:ext cx="1365120" cy="1928520"/>
          </a:xfrm>
          <a:prstGeom prst="rect">
            <a:avLst/>
          </a:prstGeom>
          <a:noFill/>
          <a:ln w="0">
            <a:noFill/>
          </a:ln>
        </p:spPr>
      </p:pic>
      <p:sp>
        <p:nvSpPr>
          <p:cNvPr id="161" name="PlaceHolder 1"/>
          <p:cNvSpPr>
            <a:spLocks noGrp="1"/>
          </p:cNvSpPr>
          <p:nvPr>
            <p:ph type="sldNum" idx="9"/>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C8E8A9E-2AF1-4C6A-81A4-A787D0F0DB0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62" name="Google Shape;53;p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3"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64" name="Google Shape;56;p6"/>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5" name="Google Shape;57;p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66" name="Google Shape;58;p6"/>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Agenda">
    <p:bg>
      <p:bgPr>
        <a:solidFill>
          <a:schemeClr val="lt1"/>
        </a:solidFill>
        <a:effectLst/>
      </p:bgPr>
    </p:bg>
    <p:spTree>
      <p:nvGrpSpPr>
        <p:cNvPr id="1" name=""/>
        <p:cNvGrpSpPr/>
        <p:nvPr/>
      </p:nvGrpSpPr>
      <p:grpSpPr>
        <a:xfrm>
          <a:off x="0" y="0"/>
          <a:ext cx="0" cy="0"/>
          <a:chOff x="0" y="0"/>
          <a:chExt cx="0" cy="0"/>
        </a:xfrm>
      </p:grpSpPr>
      <p:sp>
        <p:nvSpPr>
          <p:cNvPr id="16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69" name="Google Shape;98;p11"/>
          <p:cNvSpPr/>
          <p:nvPr/>
        </p:nvSpPr>
        <p:spPr>
          <a:xfrm>
            <a:off x="2291760" y="0"/>
            <a:ext cx="684936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70" name="PlaceHolder 1"/>
          <p:cNvSpPr>
            <a:spLocks noGrp="1"/>
          </p:cNvSpPr>
          <p:nvPr>
            <p:ph type="body"/>
          </p:nvPr>
        </p:nvSpPr>
        <p:spPr>
          <a:xfrm>
            <a:off x="365760" y="274320"/>
            <a:ext cx="192312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171" name="PlaceHolder 2"/>
          <p:cNvSpPr>
            <a:spLocks noGrp="1"/>
          </p:cNvSpPr>
          <p:nvPr>
            <p:ph type="sldNum" idx="10"/>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90117CA7-8FF6-4D22-B8B8-334C21E77CD6}" type="slidenum">
              <a:rPr lang="en" sz="600" b="0" u="none" strike="noStrike">
                <a:solidFill>
                  <a:srgbClr val="EFEFEF"/>
                </a:solidFill>
                <a:effectLst/>
                <a:uFillTx/>
                <a:latin typeface="Arial"/>
                <a:ea typeface="Arial"/>
              </a:rPr>
              <a:t>‹#›</a:t>
            </a:fld>
            <a:endParaRPr lang="en-GB" sz="600" b="0" u="none" strike="noStrike">
              <a:solidFill>
                <a:srgbClr val="000000"/>
              </a:solidFill>
              <a:effectLst/>
              <a:uFillTx/>
              <a:latin typeface="Times New Roman"/>
            </a:endParaRPr>
          </a:p>
        </p:txBody>
      </p:sp>
      <p:sp>
        <p:nvSpPr>
          <p:cNvPr id="172" name="Google Shape;101;p1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3" name="Google Shape;102;p11"/>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74" name="PlaceHolder 3"/>
          <p:cNvSpPr>
            <a:spLocks noGrp="1"/>
          </p:cNvSpPr>
          <p:nvPr>
            <p:ph type="body"/>
          </p:nvPr>
        </p:nvSpPr>
        <p:spPr>
          <a:xfrm>
            <a:off x="2961360" y="914400"/>
            <a:ext cx="5722560" cy="376920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75" name="Google Shape;104;p11"/>
          <p:cNvSpPr/>
          <p:nvPr/>
        </p:nvSpPr>
        <p:spPr>
          <a:xfrm>
            <a:off x="6369120" y="228600"/>
            <a:ext cx="1319400" cy="1411920"/>
          </a:xfrm>
          <a:custGeom>
            <a:avLst/>
            <a:gdLst>
              <a:gd name="textAreaLeft" fmla="*/ 0 w 1319400"/>
              <a:gd name="textAreaRight" fmla="*/ 1322280 w 1319400"/>
              <a:gd name="textAreaTop" fmla="*/ 0 h 1411920"/>
              <a:gd name="textAreaBottom" fmla="*/ 1414800 h 141192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6" name="Google Shape;105;p11"/>
          <p:cNvSpPr/>
          <p:nvPr/>
        </p:nvSpPr>
        <p:spPr>
          <a:xfrm>
            <a:off x="2295000" y="2766960"/>
            <a:ext cx="2769120" cy="2369160"/>
          </a:xfrm>
          <a:custGeom>
            <a:avLst/>
            <a:gdLst>
              <a:gd name="textAreaLeft" fmla="*/ 0 w 2769120"/>
              <a:gd name="textAreaRight" fmla="*/ 2772000 w 2769120"/>
              <a:gd name="textAreaTop" fmla="*/ 0 h 2369160"/>
              <a:gd name="textAreaBottom" fmla="*/ 2372040 h 23691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177" name="Google Shape;106;p11"/>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178" name="Google Shape;107;p11"/>
          <p:cNvPicPr/>
          <p:nvPr/>
        </p:nvPicPr>
        <p:blipFill>
          <a:blip r:embed="rId2"/>
          <a:srcRect l="16748"/>
          <a:stretch/>
        </p:blipFill>
        <p:spPr>
          <a:xfrm rot="10800000">
            <a:off x="7341120" y="642960"/>
            <a:ext cx="1802880" cy="2367000"/>
          </a:xfrm>
          <a:prstGeom prst="rect">
            <a:avLst/>
          </a:prstGeom>
          <a:noFill/>
          <a:ln w="0">
            <a:noFill/>
          </a:ln>
        </p:spPr>
      </p:pic>
      <p:sp>
        <p:nvSpPr>
          <p:cNvPr id="179"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ata Cloud_1_1_2">
    <p:bg>
      <p:bgPr>
        <a:solidFill>
          <a:schemeClr val="accent1"/>
        </a:solidFill>
        <a:effectLst/>
      </p:bgPr>
    </p:bg>
    <p:spTree>
      <p:nvGrpSpPr>
        <p:cNvPr id="1" name=""/>
        <p:cNvGrpSpPr/>
        <p:nvPr/>
      </p:nvGrpSpPr>
      <p:grpSpPr>
        <a:xfrm>
          <a:off x="0" y="0"/>
          <a:ext cx="0" cy="0"/>
          <a:chOff x="0" y="0"/>
          <a:chExt cx="0" cy="0"/>
        </a:xfrm>
      </p:grpSpPr>
      <p:sp>
        <p:nvSpPr>
          <p:cNvPr id="18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1"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82"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183"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184"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185"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6"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ne Column Layout_1">
    <p:bg>
      <p:bgPr>
        <a:solidFill>
          <a:schemeClr val="lt1"/>
        </a:solidFill>
        <a:effectLst/>
      </p:bgPr>
    </p:bg>
    <p:spTree>
      <p:nvGrpSpPr>
        <p:cNvPr id="1" name=""/>
        <p:cNvGrpSpPr/>
        <p:nvPr/>
      </p:nvGrpSpPr>
      <p:grpSpPr>
        <a:xfrm>
          <a:off x="0" y="0"/>
          <a:ext cx="0" cy="0"/>
          <a:chOff x="0" y="0"/>
          <a:chExt cx="0" cy="0"/>
        </a:xfrm>
      </p:grpSpPr>
      <p:sp>
        <p:nvSpPr>
          <p:cNvPr id="18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8" name="PlaceHolder 1"/>
          <p:cNvSpPr>
            <a:spLocks noGrp="1"/>
          </p:cNvSpPr>
          <p:nvPr>
            <p:ph type="title"/>
          </p:nvPr>
        </p:nvSpPr>
        <p:spPr>
          <a:xfrm>
            <a:off x="36576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89" name="PlaceHolder 2"/>
          <p:cNvSpPr>
            <a:spLocks noGrp="1"/>
          </p:cNvSpPr>
          <p:nvPr>
            <p:ph type="body"/>
          </p:nvPr>
        </p:nvSpPr>
        <p:spPr>
          <a:xfrm>
            <a:off x="36576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0" name="PlaceHolder 3"/>
          <p:cNvSpPr>
            <a:spLocks noGrp="1"/>
          </p:cNvSpPr>
          <p:nvPr>
            <p:ph type="body"/>
          </p:nvPr>
        </p:nvSpPr>
        <p:spPr>
          <a:xfrm>
            <a:off x="461772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1" name="PlaceHolder 4"/>
          <p:cNvSpPr>
            <a:spLocks noGrp="1"/>
          </p:cNvSpPr>
          <p:nvPr>
            <p:ph type="sldNum" idx="1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10CDCF56-2DB4-477F-90E9-3E3E7EE378A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92" name="Google Shape;72;p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93" name="Google Shape;73;p8"/>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4" name="Google Shape;75;p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One Column Layout_1_1">
    <p:bg>
      <p:bgPr>
        <a:solidFill>
          <a:schemeClr val="lt1"/>
        </a:solidFill>
        <a:effectLst/>
      </p:bgPr>
    </p:bg>
    <p:spTree>
      <p:nvGrpSpPr>
        <p:cNvPr id="1" name=""/>
        <p:cNvGrpSpPr/>
        <p:nvPr/>
      </p:nvGrpSpPr>
      <p:grpSpPr>
        <a:xfrm>
          <a:off x="0" y="0"/>
          <a:ext cx="0" cy="0"/>
          <a:chOff x="0" y="0"/>
          <a:chExt cx="0" cy="0"/>
        </a:xfrm>
      </p:grpSpPr>
      <p:sp>
        <p:nvSpPr>
          <p:cNvPr id="19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96"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97" name="PlaceHolder 2"/>
          <p:cNvSpPr>
            <a:spLocks noGrp="1"/>
          </p:cNvSpPr>
          <p:nvPr>
            <p:ph type="body"/>
          </p:nvPr>
        </p:nvSpPr>
        <p:spPr>
          <a:xfrm>
            <a:off x="36576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8" name="PlaceHolder 3"/>
          <p:cNvSpPr>
            <a:spLocks noGrp="1"/>
          </p:cNvSpPr>
          <p:nvPr>
            <p:ph type="body"/>
          </p:nvPr>
        </p:nvSpPr>
        <p:spPr>
          <a:xfrm>
            <a:off x="316908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9" name="PlaceHolder 4"/>
          <p:cNvSpPr>
            <a:spLocks noGrp="1"/>
          </p:cNvSpPr>
          <p:nvPr>
            <p:ph type="body"/>
          </p:nvPr>
        </p:nvSpPr>
        <p:spPr>
          <a:xfrm>
            <a:off x="612792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00" name="PlaceHolder 5"/>
          <p:cNvSpPr>
            <a:spLocks noGrp="1"/>
          </p:cNvSpPr>
          <p:nvPr>
            <p:ph type="sldNum" idx="12"/>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D046081F-A883-4830-B000-603A3E5249FB}"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01" name="Google Shape;82;p9"/>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02" name="Google Shape;83;p9"/>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3" name="Google Shape;85;p9"/>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Data Cloud_1_1_2">
    <p:bg>
      <p:bgPr>
        <a:solidFill>
          <a:schemeClr val="accent1"/>
        </a:solidFill>
        <a:effectLst/>
      </p:bgPr>
    </p:bg>
    <p:spTree>
      <p:nvGrpSpPr>
        <p:cNvPr id="1" name=""/>
        <p:cNvGrpSpPr/>
        <p:nvPr/>
      </p:nvGrpSpPr>
      <p:grpSpPr>
        <a:xfrm>
          <a:off x="0" y="0"/>
          <a:ext cx="0" cy="0"/>
          <a:chOff x="0" y="0"/>
          <a:chExt cx="0" cy="0"/>
        </a:xfrm>
      </p:grpSpPr>
      <p:sp>
        <p:nvSpPr>
          <p:cNvPr id="20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05"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6"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207"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208"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209"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GB" sz="1400" b="0" u="none" strike="noStrike">
              <a:solidFill>
                <a:srgbClr val="000000"/>
              </a:solidFill>
              <a:effectLst/>
              <a:uFillTx/>
              <a:latin typeface="Arial"/>
            </a:endParaRPr>
          </a:p>
        </p:txBody>
      </p:sp>
      <p:sp>
        <p:nvSpPr>
          <p:cNvPr id="210"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One Column Layout_1_1_1">
    <p:bg>
      <p:bgPr>
        <a:solidFill>
          <a:schemeClr val="lt1"/>
        </a:solidFill>
        <a:effectLst/>
      </p:bgPr>
    </p:bg>
    <p:spTree>
      <p:nvGrpSpPr>
        <p:cNvPr id="1" name=""/>
        <p:cNvGrpSpPr/>
        <p:nvPr/>
      </p:nvGrpSpPr>
      <p:grpSpPr>
        <a:xfrm>
          <a:off x="0" y="0"/>
          <a:ext cx="0" cy="0"/>
          <a:chOff x="0" y="0"/>
          <a:chExt cx="0" cy="0"/>
        </a:xfrm>
      </p:grpSpPr>
      <p:sp>
        <p:nvSpPr>
          <p:cNvPr id="2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12" name="Google Shape;87;p10"/>
          <p:cNvSpPr/>
          <p:nvPr/>
        </p:nvSpPr>
        <p:spPr>
          <a:xfrm>
            <a:off x="457200" y="484668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13" name="PlaceHolder 1"/>
          <p:cNvSpPr>
            <a:spLocks noGrp="1"/>
          </p:cNvSpPr>
          <p:nvPr>
            <p:ph type="sldNum" idx="13"/>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6B6385A-8CA6-43E2-A84F-F0405C6DB138}"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14" name="PlaceHolder 2"/>
          <p:cNvSpPr>
            <a:spLocks noGrp="1"/>
          </p:cNvSpPr>
          <p:nvPr>
            <p:ph type="title"/>
          </p:nvPr>
        </p:nvSpPr>
        <p:spPr>
          <a:xfrm>
            <a:off x="365760" y="274320"/>
            <a:ext cx="83455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15" name="PlaceHolder 3"/>
          <p:cNvSpPr>
            <a:spLocks noGrp="1"/>
          </p:cNvSpPr>
          <p:nvPr>
            <p:ph type="body"/>
          </p:nvPr>
        </p:nvSpPr>
        <p:spPr>
          <a:xfrm>
            <a:off x="3657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6" name="PlaceHolder 4"/>
          <p:cNvSpPr>
            <a:spLocks noGrp="1"/>
          </p:cNvSpPr>
          <p:nvPr>
            <p:ph type="body"/>
          </p:nvPr>
        </p:nvSpPr>
        <p:spPr>
          <a:xfrm>
            <a:off x="245952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7" name="PlaceHolder 5"/>
          <p:cNvSpPr>
            <a:spLocks noGrp="1"/>
          </p:cNvSpPr>
          <p:nvPr>
            <p:ph type="body"/>
          </p:nvPr>
        </p:nvSpPr>
        <p:spPr>
          <a:xfrm>
            <a:off x="4673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8" name="PlaceHolder 6"/>
          <p:cNvSpPr>
            <a:spLocks noGrp="1"/>
          </p:cNvSpPr>
          <p:nvPr>
            <p:ph type="body"/>
          </p:nvPr>
        </p:nvSpPr>
        <p:spPr>
          <a:xfrm>
            <a:off x="6887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9" name="Google Shape;94;p10"/>
          <p:cNvSpPr/>
          <p:nvPr/>
        </p:nvSpPr>
        <p:spPr>
          <a:xfrm>
            <a:off x="660600" y="4867200"/>
            <a:ext cx="147060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0" name="Google Shape;96;p10"/>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Multi-use layout">
    <p:bg>
      <p:bgPr>
        <a:solidFill>
          <a:schemeClr val="lt1"/>
        </a:solidFill>
        <a:effectLst/>
      </p:bgPr>
    </p:bg>
    <p:spTree>
      <p:nvGrpSpPr>
        <p:cNvPr id="1" name=""/>
        <p:cNvGrpSpPr/>
        <p:nvPr/>
      </p:nvGrpSpPr>
      <p:grpSpPr>
        <a:xfrm>
          <a:off x="0" y="0"/>
          <a:ext cx="0" cy="0"/>
          <a:chOff x="0" y="0"/>
          <a:chExt cx="0" cy="0"/>
        </a:xfrm>
      </p:grpSpPr>
      <p:sp>
        <p:nvSpPr>
          <p:cNvPr id="22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22" name="PlaceHolder 1"/>
          <p:cNvSpPr>
            <a:spLocks noGrp="1"/>
          </p:cNvSpPr>
          <p:nvPr>
            <p:ph type="sldNum" idx="14"/>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E522573-B6C9-4756-892C-6BADFB6C95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23" name="Google Shape;12;p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4" name="Google Shape;14;p2"/>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5" name="Google Shape;15;p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6" name="Google Shape;16;p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7"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2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Agenda_1">
    <p:bg>
      <p:bgPr>
        <a:solidFill>
          <a:schemeClr val="lt1"/>
        </a:solidFill>
        <a:effectLst/>
      </p:bgPr>
    </p:bg>
    <p:spTree>
      <p:nvGrpSpPr>
        <p:cNvPr id="1" name=""/>
        <p:cNvGrpSpPr/>
        <p:nvPr/>
      </p:nvGrpSpPr>
      <p:grpSpPr>
        <a:xfrm>
          <a:off x="0" y="0"/>
          <a:ext cx="0" cy="0"/>
          <a:chOff x="0" y="0"/>
          <a:chExt cx="0" cy="0"/>
        </a:xfrm>
      </p:grpSpPr>
      <p:sp>
        <p:nvSpPr>
          <p:cNvPr id="2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0" name="Google Shape;109;p12"/>
          <p:cNvSpPr/>
          <p:nvPr/>
        </p:nvSpPr>
        <p:spPr>
          <a:xfrm flipH="1">
            <a:off x="-3600" y="0"/>
            <a:ext cx="27403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231" name="PlaceHolder 1"/>
          <p:cNvSpPr>
            <a:spLocks noGrp="1"/>
          </p:cNvSpPr>
          <p:nvPr>
            <p:ph type="body"/>
          </p:nvPr>
        </p:nvSpPr>
        <p:spPr>
          <a:xfrm>
            <a:off x="365760" y="274320"/>
            <a:ext cx="237384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232" name="PlaceHolder 2"/>
          <p:cNvSpPr>
            <a:spLocks noGrp="1"/>
          </p:cNvSpPr>
          <p:nvPr>
            <p:ph type="sldNum" idx="1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B6AEBC9-8519-480C-8023-792AE0E5AAE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33" name="Google Shape;112;p1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4" name="Google Shape;113;p1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FFFFFF"/>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35" name="PlaceHolder 3"/>
          <p:cNvSpPr>
            <a:spLocks noGrp="1"/>
          </p:cNvSpPr>
          <p:nvPr>
            <p:ph type="body"/>
          </p:nvPr>
        </p:nvSpPr>
        <p:spPr>
          <a:xfrm>
            <a:off x="365760" y="1291680"/>
            <a:ext cx="2207520" cy="255744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p>
        </p:txBody>
      </p:sp>
      <p:sp>
        <p:nvSpPr>
          <p:cNvPr id="236" name="Google Shape;115;p1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7"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plit Layout">
    <p:bg>
      <p:bgPr>
        <a:solidFill>
          <a:schemeClr val="lt1"/>
        </a:solidFill>
        <a:effectLst/>
      </p:bgPr>
    </p:bg>
    <p:spTree>
      <p:nvGrpSpPr>
        <p:cNvPr id="1" name=""/>
        <p:cNvGrpSpPr/>
        <p:nvPr/>
      </p:nvGrpSpPr>
      <p:grpSpPr>
        <a:xfrm>
          <a:off x="0" y="0"/>
          <a:ext cx="0" cy="0"/>
          <a:chOff x="0" y="0"/>
          <a:chExt cx="0" cy="0"/>
        </a:xfrm>
      </p:grpSpPr>
      <p:sp>
        <p:nvSpPr>
          <p:cNvPr id="23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9" name="Google Shape;117;p13"/>
          <p:cNvSpPr/>
          <p:nvPr/>
        </p:nvSpPr>
        <p:spPr>
          <a:xfrm>
            <a:off x="4572000" y="0"/>
            <a:ext cx="4569120" cy="51408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0" name="Google Shape;118;p13"/>
          <p:cNvSpPr/>
          <p:nvPr/>
        </p:nvSpPr>
        <p:spPr>
          <a:xfrm>
            <a:off x="6024600" y="257040"/>
            <a:ext cx="1485360" cy="1589040"/>
          </a:xfrm>
          <a:custGeom>
            <a:avLst/>
            <a:gdLst>
              <a:gd name="textAreaLeft" fmla="*/ 0 w 1485360"/>
              <a:gd name="textAreaRight" fmla="*/ 1488240 w 1485360"/>
              <a:gd name="textAreaTop" fmla="*/ 0 h 1589040"/>
              <a:gd name="textAreaBottom" fmla="*/ 1591920 h 158904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1" name="Google Shape;119;p13"/>
          <p:cNvSpPr/>
          <p:nvPr/>
        </p:nvSpPr>
        <p:spPr>
          <a:xfrm>
            <a:off x="4574520" y="2417040"/>
            <a:ext cx="3183480" cy="2723760"/>
          </a:xfrm>
          <a:custGeom>
            <a:avLst/>
            <a:gdLst>
              <a:gd name="textAreaLeft" fmla="*/ 0 w 3183480"/>
              <a:gd name="textAreaRight" fmla="*/ 3186360 w 3183480"/>
              <a:gd name="textAreaTop" fmla="*/ 0 h 2723760"/>
              <a:gd name="textAreaBottom" fmla="*/ 2726640 h 27237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2" name="Google Shape;120;p13"/>
          <p:cNvSpPr/>
          <p:nvPr/>
        </p:nvSpPr>
        <p:spPr>
          <a:xfrm>
            <a:off x="7184160" y="634320"/>
            <a:ext cx="1956960" cy="2803320"/>
          </a:xfrm>
          <a:custGeom>
            <a:avLst/>
            <a:gdLst>
              <a:gd name="textAreaLeft" fmla="*/ 0 w 1956960"/>
              <a:gd name="textAreaRight" fmla="*/ 1959840 w 1956960"/>
              <a:gd name="textAreaTop" fmla="*/ 0 h 2803320"/>
              <a:gd name="textAreaBottom" fmla="*/ 2806200 h 280332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3" name="Google Shape;121;p13"/>
          <p:cNvSpPr/>
          <p:nvPr/>
        </p:nvSpPr>
        <p:spPr>
          <a:xfrm>
            <a:off x="6491160" y="2753640"/>
            <a:ext cx="1573560" cy="1683360"/>
          </a:xfrm>
          <a:custGeom>
            <a:avLst/>
            <a:gdLst>
              <a:gd name="textAreaLeft" fmla="*/ 0 w 1573560"/>
              <a:gd name="textAreaRight" fmla="*/ 1576440 w 1573560"/>
              <a:gd name="textAreaTop" fmla="*/ 0 h 1683360"/>
              <a:gd name="textAreaBottom" fmla="*/ 1686240 h 168336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6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4" name="Google Shape;122;p13"/>
          <p:cNvSpPr/>
          <p:nvPr/>
        </p:nvSpPr>
        <p:spPr>
          <a:xfrm>
            <a:off x="4572000" y="0"/>
            <a:ext cx="45691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FFFFFF"/>
              </a:solidFill>
              <a:effectLst/>
              <a:uFillTx/>
              <a:latin typeface="Arial"/>
            </a:endParaRPr>
          </a:p>
        </p:txBody>
      </p:sp>
      <p:sp>
        <p:nvSpPr>
          <p:cNvPr id="245" name="PlaceHolder 1"/>
          <p:cNvSpPr>
            <a:spLocks noGrp="1"/>
          </p:cNvSpPr>
          <p:nvPr>
            <p:ph type="body"/>
          </p:nvPr>
        </p:nvSpPr>
        <p:spPr>
          <a:xfrm>
            <a:off x="365760" y="634320"/>
            <a:ext cx="3824640" cy="5004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Seventh Outline Level</a:t>
            </a:r>
          </a:p>
        </p:txBody>
      </p:sp>
      <p:sp>
        <p:nvSpPr>
          <p:cNvPr id="246" name="PlaceHolder 2"/>
          <p:cNvSpPr>
            <a:spLocks noGrp="1"/>
          </p:cNvSpPr>
          <p:nvPr>
            <p:ph type="title"/>
          </p:nvPr>
        </p:nvSpPr>
        <p:spPr>
          <a:xfrm>
            <a:off x="365760" y="274320"/>
            <a:ext cx="397620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47" name="PlaceHolder 3"/>
          <p:cNvSpPr>
            <a:spLocks noGrp="1"/>
          </p:cNvSpPr>
          <p:nvPr>
            <p:ph type="sldNum" idx="1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DCE62150-DF2B-4725-B761-915D12DD3756}"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248" name="Google Shape;126;p1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9" name="Google Shape;127;p1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pic>
        <p:nvPicPr>
          <p:cNvPr id="250" name="Google Shape;128;p13"/>
          <p:cNvPicPr/>
          <p:nvPr/>
        </p:nvPicPr>
        <p:blipFill>
          <a:blip r:embed="rId2"/>
          <a:srcRect l="13569" b="9582"/>
          <a:stretch/>
        </p:blipFill>
        <p:spPr>
          <a:xfrm>
            <a:off x="4572000" y="3214080"/>
            <a:ext cx="1690920" cy="1926360"/>
          </a:xfrm>
          <a:prstGeom prst="rect">
            <a:avLst/>
          </a:prstGeom>
          <a:noFill/>
          <a:ln w="0">
            <a:noFill/>
          </a:ln>
        </p:spPr>
      </p:pic>
      <p:sp>
        <p:nvSpPr>
          <p:cNvPr id="251" name="Google Shape;129;p13"/>
          <p:cNvSpPr/>
          <p:nvPr/>
        </p:nvSpPr>
        <p:spPr>
          <a:xfrm>
            <a:off x="8067600" y="228600"/>
            <a:ext cx="1074960" cy="1540440"/>
          </a:xfrm>
          <a:custGeom>
            <a:avLst/>
            <a:gdLst>
              <a:gd name="textAreaLeft" fmla="*/ 0 w 1074960"/>
              <a:gd name="textAreaRight" fmla="*/ 1077840 w 1074960"/>
              <a:gd name="textAreaTop" fmla="*/ 0 h 1540440"/>
              <a:gd name="textAreaBottom" fmla="*/ 1543320 h 154044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52" name="PlaceHolder 4"/>
          <p:cNvSpPr>
            <a:spLocks noGrp="1"/>
          </p:cNvSpPr>
          <p:nvPr>
            <p:ph type="body"/>
          </p:nvPr>
        </p:nvSpPr>
        <p:spPr>
          <a:xfrm>
            <a:off x="4937760" y="1280160"/>
            <a:ext cx="3563640" cy="610164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253" name="Google Shape;131;p13"/>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Data Cloud_1">
    <p:bg>
      <p:bgPr>
        <a:solidFill>
          <a:schemeClr val="lt1"/>
        </a:solidFill>
        <a:effectLst/>
      </p:bgPr>
    </p:bg>
    <p:spTree>
      <p:nvGrpSpPr>
        <p:cNvPr id="1" name=""/>
        <p:cNvGrpSpPr/>
        <p:nvPr/>
      </p:nvGrpSpPr>
      <p:grpSpPr>
        <a:xfrm>
          <a:off x="0" y="0"/>
          <a:ext cx="0" cy="0"/>
          <a:chOff x="0" y="0"/>
          <a:chExt cx="0" cy="0"/>
        </a:xfrm>
      </p:grpSpPr>
      <p:sp>
        <p:nvSpPr>
          <p:cNvPr id="25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55" name="PlaceHolder 1"/>
          <p:cNvSpPr>
            <a:spLocks noGrp="1"/>
          </p:cNvSpPr>
          <p:nvPr>
            <p:ph type="sldNum" idx="1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09463C0-1EC4-4AAD-8430-2127D9A34C6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56" name="Google Shape;134;p1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57" name="Google Shape;135;p1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Quote - Violet_1_1">
    <p:bg>
      <p:bgPr>
        <a:solidFill>
          <a:schemeClr val="dk2"/>
        </a:solidFill>
        <a:effectLst/>
      </p:bgPr>
    </p:bg>
    <p:spTree>
      <p:nvGrpSpPr>
        <p:cNvPr id="1" name=""/>
        <p:cNvGrpSpPr/>
        <p:nvPr/>
      </p:nvGrpSpPr>
      <p:grpSpPr>
        <a:xfrm>
          <a:off x="0" y="0"/>
          <a:ext cx="0" cy="0"/>
          <a:chOff x="0" y="0"/>
          <a:chExt cx="0" cy="0"/>
        </a:xfrm>
      </p:grpSpPr>
      <p:sp>
        <p:nvSpPr>
          <p:cNvPr id="25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5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260" name="Google Shape;190;p20"/>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61" name="Google Shape;191;p20"/>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2"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Multi-use layout_2">
    <p:bg>
      <p:bgPr>
        <a:solidFill>
          <a:schemeClr val="lt1"/>
        </a:solidFill>
        <a:effectLst/>
      </p:bgPr>
    </p:bg>
    <p:spTree>
      <p:nvGrpSpPr>
        <p:cNvPr id="1" name=""/>
        <p:cNvGrpSpPr/>
        <p:nvPr/>
      </p:nvGrpSpPr>
      <p:grpSpPr>
        <a:xfrm>
          <a:off x="0" y="0"/>
          <a:ext cx="0" cy="0"/>
          <a:chOff x="0" y="0"/>
          <a:chExt cx="0" cy="0"/>
        </a:xfrm>
      </p:grpSpPr>
      <p:sp>
        <p:nvSpPr>
          <p:cNvPr id="26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64" name="PlaceHolder 1"/>
          <p:cNvSpPr>
            <a:spLocks noGrp="1"/>
          </p:cNvSpPr>
          <p:nvPr>
            <p:ph type="sldNum" idx="1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578616FD-599A-41FF-80DB-6E6EB870A91F}"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65" name="Google Shape;20;p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6"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67" name="Google Shape;23;p3"/>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8" name="Google Shape;24;p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69" name="Google Shape;25;p3"/>
          <p:cNvSpPr/>
          <p:nvPr/>
        </p:nvSpPr>
        <p:spPr>
          <a:xfrm>
            <a:off x="0" y="343440"/>
            <a:ext cx="134280" cy="72864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0"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0348-DFA4-1B70-D0BC-3CA87C02748B}"/>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371FDF-9C5A-C4AF-125E-8BAEF2A1CB8B}"/>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AC74-3857-E66C-DEAA-79617E1F6E20}"/>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DE2F3F6-8EBA-2D34-AA51-ED1E8E35ECAD}"/>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5E5C-AE95-AB0A-2993-611148F4521D}"/>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16C8439-F1F9-31EF-6CF2-9634C144B5CE}"/>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9.xml"/><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theme" Target="../theme/theme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32.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33.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8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79" name="Google Shape;151;p16"/>
          <p:cNvGrpSpPr/>
          <p:nvPr/>
        </p:nvGrpSpPr>
        <p:grpSpPr>
          <a:xfrm>
            <a:off x="0" y="2914920"/>
            <a:ext cx="9140760" cy="2225520"/>
            <a:chOff x="0" y="2914920"/>
            <a:chExt cx="9140760" cy="2225520"/>
          </a:xfrm>
        </p:grpSpPr>
        <p:pic>
          <p:nvPicPr>
            <p:cNvPr id="80" name="Google Shape;152;p16"/>
            <p:cNvPicPr/>
            <p:nvPr/>
          </p:nvPicPr>
          <p:blipFill>
            <a:blip r:embed="rId3">
              <a:alphaModFix amt="85000"/>
            </a:blip>
            <a:srcRect l="45946" t="24688" b="30755"/>
            <a:stretch/>
          </p:blipFill>
          <p:spPr>
            <a:xfrm>
              <a:off x="0" y="2914920"/>
              <a:ext cx="3241440" cy="2225520"/>
            </a:xfrm>
            <a:prstGeom prst="rect">
              <a:avLst/>
            </a:prstGeom>
            <a:noFill/>
            <a:ln w="0">
              <a:noFill/>
            </a:ln>
          </p:spPr>
        </p:pic>
        <p:pic>
          <p:nvPicPr>
            <p:cNvPr id="81" name="Google Shape;153;p16"/>
            <p:cNvPicPr/>
            <p:nvPr/>
          </p:nvPicPr>
          <p:blipFill>
            <a:blip r:embed="rId4">
              <a:alphaModFix amt="85000"/>
            </a:blip>
            <a:srcRect t="25252" r="1930" b="30759"/>
            <a:stretch/>
          </p:blipFill>
          <p:spPr>
            <a:xfrm>
              <a:off x="3253320" y="2943000"/>
              <a:ext cx="5887440" cy="2197440"/>
            </a:xfrm>
            <a:prstGeom prst="rect">
              <a:avLst/>
            </a:prstGeom>
            <a:noFill/>
            <a:ln w="0">
              <a:noFill/>
            </a:ln>
          </p:spPr>
        </p:pic>
      </p:grpSp>
      <p:sp>
        <p:nvSpPr>
          <p:cNvPr id="82" name="Google Shape;154;p16"/>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83" name="Google Shape;158;p16"/>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hyperlink" Target="https://www.snowflake.com/en/pricing-options/" TargetMode="Externa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366480" y="1188720"/>
            <a:ext cx="8642348"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Acme Financial</a:t>
            </a:r>
            <a:endParaRPr lang="en-GB" sz="4400" b="0" u="none" strike="noStrike" dirty="0">
              <a:solidFill>
                <a:srgbClr val="000000"/>
              </a:solidFill>
              <a:effectLst/>
              <a:uFillTx/>
              <a:latin typeface="Arial"/>
            </a:endParaRPr>
          </a:p>
          <a:p>
            <a:pPr indent="0">
              <a:lnSpc>
                <a:spcPct val="85000"/>
              </a:lnSpc>
              <a:buNone/>
              <a:tabLst>
                <a:tab pos="0" algn="l"/>
              </a:tabLst>
            </a:pPr>
            <a:r>
              <a:rPr lang="en" sz="4400" b="1" u="none" strike="noStrike" dirty="0">
                <a:solidFill>
                  <a:schemeClr val="dk1"/>
                </a:solidFill>
                <a:effectLst/>
                <a:uFillTx/>
                <a:latin typeface="Arial"/>
                <a:ea typeface="Arial"/>
              </a:rPr>
              <a:t>Snowflake Sizing Proposal</a:t>
            </a:r>
            <a:endParaRPr lang="en-GB" sz="4400" b="0" u="none" strike="noStrike" dirty="0">
              <a:solidFill>
                <a:srgbClr val="000000"/>
              </a:solidFill>
              <a:effectLst/>
              <a:uFillTx/>
              <a:latin typeface="Arial"/>
            </a:endParaRPr>
          </a:p>
        </p:txBody>
      </p:sp>
      <p:sp>
        <p:nvSpPr>
          <p:cNvPr id="410" name="PlaceHolder 2"/>
          <p:cNvSpPr>
            <a:spLocks noGrp="1"/>
          </p:cNvSpPr>
          <p:nvPr>
            <p:ph type="title"/>
          </p:nvPr>
        </p:nvSpPr>
        <p:spPr>
          <a:xfrm>
            <a:off x="366479" y="3160440"/>
            <a:ext cx="8642347" cy="439560"/>
          </a:xfrm>
          <a:prstGeom prst="rect">
            <a:avLst/>
          </a:prstGeom>
          <a:noFill/>
          <a:ln w="0">
            <a:noFill/>
          </a:ln>
        </p:spPr>
        <p:txBody>
          <a:bodyPr lIns="91440" tIns="91440" rIns="91440" bIns="91440" anchor="t">
            <a:noAutofit/>
          </a:bodyPr>
          <a:lstStyle/>
          <a:p>
            <a:pPr indent="0">
              <a:lnSpc>
                <a:spcPct val="80000"/>
              </a:lnSpc>
              <a:buNone/>
              <a:tabLst>
                <a:tab pos="0" algn="l"/>
              </a:tabLst>
            </a:pPr>
            <a:r>
              <a:rPr lang="en" sz="1800" b="1" u="none" strike="noStrike" dirty="0">
                <a:solidFill>
                  <a:schemeClr val="dk1"/>
                </a:solidFill>
                <a:effectLst/>
                <a:uFillTx/>
                <a:latin typeface="Arial"/>
                <a:ea typeface="Arial"/>
              </a:rPr>
              <a:t>Enterprise  |  AWS  |  Europe (London)  |  3-Year Contract</a:t>
            </a:r>
            <a:endParaRPr lang="en-GB" sz="1800" b="0" u="none" strike="noStrike" dirty="0">
              <a:solidFill>
                <a:srgbClr val="000000"/>
              </a:solidFill>
              <a:effectLst/>
              <a:uFillTx/>
              <a:latin typeface="Arial"/>
            </a:endParaRPr>
          </a:p>
        </p:txBody>
      </p:sp>
      <p:sp>
        <p:nvSpPr>
          <p:cNvPr id="411"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90000"/>
              </a:lnSpc>
              <a:buNone/>
              <a:tabLst>
                <a:tab pos="0" algn="l"/>
              </a:tabLst>
            </a:pPr>
            <a:r>
              <a:rPr lang="en" sz="1400" b="1" u="none" strike="noStrike" dirty="0">
                <a:solidFill>
                  <a:schemeClr val="dk1"/>
                </a:solidFill>
                <a:effectLst/>
                <a:uFillTx/>
                <a:latin typeface="Arial"/>
                <a:ea typeface="Arial"/>
              </a:rPr>
              <a:t>2026-05-25</a:t>
            </a:r>
            <a:endParaRPr lang="en-GB" sz="1400" b="0" u="none" strike="noStrike" dirty="0">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p:cNvSpPr>
          <p:nvPr>
            <p:ph type="sldNum" idx="23"/>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CAAB92A-891A-43B7-A1C6-644B46B9BD42}" type="slidenum">
              <a:rPr lang="en" sz="600" b="0" u="none" strike="noStrike">
                <a:solidFill>
                  <a:srgbClr val="929292"/>
                </a:solidFill>
                <a:effectLst/>
                <a:uFillTx/>
                <a:latin typeface="Arial"/>
                <a:ea typeface="Arial"/>
              </a:rPr>
              <a:t>3</a:t>
            </a:fld>
            <a:endParaRPr lang="en-GB" sz="600" b="0" u="none" strike="noStrike">
              <a:solidFill>
                <a:srgbClr val="000000"/>
              </a:solidFill>
              <a:effectLst/>
              <a:uFillTx/>
              <a:latin typeface="Times New Roman"/>
            </a:endParaRPr>
          </a:p>
        </p:txBody>
      </p:sp>
      <p:sp>
        <p:nvSpPr>
          <p:cNvPr id="285"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Safe Harbor and Disclaimers</a:t>
            </a:r>
            <a:endParaRPr lang="en-GB" sz="2600" b="0" u="none" strike="noStrike">
              <a:solidFill>
                <a:srgbClr val="000000"/>
              </a:solidFill>
              <a:effectLst/>
              <a:uFillTx/>
              <a:latin typeface="Arial"/>
            </a:endParaRPr>
          </a:p>
        </p:txBody>
      </p:sp>
      <p:sp>
        <p:nvSpPr>
          <p:cNvPr id="286" name="Google Shape;292;p33"/>
          <p:cNvSpPr/>
          <p:nvPr/>
        </p:nvSpPr>
        <p:spPr>
          <a:xfrm>
            <a:off x="660600" y="4776120"/>
            <a:ext cx="6031800" cy="31356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lang="en-GB" sz="600" b="0" u="none" strike="noStrike">
              <a:solidFill>
                <a:srgbClr val="000000"/>
              </a:solidFill>
              <a:effectLst/>
              <a:uFillTx/>
              <a:latin typeface="Arial"/>
            </a:endParaRPr>
          </a:p>
        </p:txBody>
      </p:sp>
      <p:sp>
        <p:nvSpPr>
          <p:cNvPr id="287" name="Google Shape;293;p33"/>
          <p:cNvSpPr/>
          <p:nvPr/>
        </p:nvSpPr>
        <p:spPr>
          <a:xfrm>
            <a:off x="7814520" y="0"/>
            <a:ext cx="1326600" cy="18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tabLst>
                <a:tab pos="0" algn="l"/>
              </a:tabLst>
            </a:pPr>
            <a:r>
              <a:rPr lang="en" sz="600" b="0" u="none" strike="noStrike">
                <a:solidFill>
                  <a:srgbClr val="919191"/>
                </a:solidFill>
                <a:effectLst/>
                <a:uFillTx/>
                <a:latin typeface="Arial"/>
                <a:ea typeface="Arial"/>
              </a:rPr>
              <a:t>REV 12.16.25</a:t>
            </a:r>
            <a:endParaRPr lang="en-GB" sz="600" b="0" u="none" strike="noStrike">
              <a:solidFill>
                <a:srgbClr val="000000"/>
              </a:solidFill>
              <a:effectLst/>
              <a:uFillTx/>
              <a:latin typeface="Arial"/>
            </a:endParaRPr>
          </a:p>
        </p:txBody>
      </p:sp>
      <p:sp>
        <p:nvSpPr>
          <p:cNvPr id="288" name="Google Shape;294;p33"/>
          <p:cNvSpPr/>
          <p:nvPr/>
        </p:nvSpPr>
        <p:spPr>
          <a:xfrm>
            <a:off x="367920" y="873360"/>
            <a:ext cx="4370040" cy="37537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spcAft>
                <a:spcPts val="700"/>
              </a:spcAft>
              <a:tabLst>
                <a:tab pos="0" algn="l"/>
              </a:tabLst>
            </a:pPr>
            <a:r>
              <a:rPr lang="en" sz="800" b="0" u="none" strike="noStrike">
                <a:solidFill>
                  <a:srgbClr val="5B5B5B"/>
                </a:solidFill>
                <a:effectLst/>
                <a:uFillTx/>
                <a:latin typeface="Arial"/>
                <a:ea typeface="Arial"/>
              </a:rPr>
              <a:t>Other than statements of historical fact, all statements contained in these materials and any accompanying oral commentary (collectively, the “Materials”) are forward-looking statements within the meaning of Section 27A of the Securities Act of 1933, as amended, and Section 21E of the Securities Exchange Act of 1934, as amended, including statements regarding (i) Snowflake’s business strategy, plans, opportunities, or priorities; (ii) Snowflake’s new or enhanced products, services, and technology offerings, including those that are under development or not generally available; (iii) market size and growth, trends, and competitive considerations; (iv) Snowflake’s vision, strategy, and expected benefits relating to artificial intelligence (“AI”), Snowpark, Snowflake Marketplace, the AI Data Cloud, and AI Data Clouds for specific industries or product categories, including the expected benefits and network effects of the AI Data Cloud; and (v) the integration, interoperability, and availability of Snowflake’s products, services, or technology offerings with or on third-party platforms or products, including public cloud platforms. These forward-looking statements are subject to a number of known and unknown risks, uncertainties, and assumptions, including those described under the heading “Risk Factors” and elsewhere in the Annual Reports on Form 10-K and the Quarterly Reports on Form 10-Q that Snowflake files with the Securities and Exchange Commission from time to time. In light of these risks, uncertainties, and assumptions, the future events and trends discussed in the Materials may not occur, and actual results could differ materially and adversely from those expressed or implied in the forward-looking statements. As a result, you should not rely on any forwarding-looking statements as predictions of future events. Forward-looking statements speak only as of the date the statements are first made and are based on information available to Snowflake at the time those statements are made and/or management's good faith belief as of that time. Except as required by law, we undertake no obligation, and do not intend, to update the forward-looking statements in these Materials.</a:t>
            </a:r>
            <a:endParaRPr lang="en-GB" sz="800" b="0" u="none" strike="noStrike">
              <a:solidFill>
                <a:srgbClr val="000000"/>
              </a:solidFill>
              <a:effectLst/>
              <a:uFillTx/>
              <a:latin typeface="Arial"/>
            </a:endParaRPr>
          </a:p>
        </p:txBody>
      </p:sp>
      <p:sp>
        <p:nvSpPr>
          <p:cNvPr id="289" name="Google Shape;295;p33"/>
          <p:cNvSpPr/>
          <p:nvPr/>
        </p:nvSpPr>
        <p:spPr>
          <a:xfrm>
            <a:off x="4844880" y="873360"/>
            <a:ext cx="3839040" cy="3582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tabLst>
                <a:tab pos="0" algn="l"/>
              </a:tabLst>
            </a:pPr>
            <a:r>
              <a:rPr lang="en" sz="800" b="0" u="none" strike="noStrike">
                <a:solidFill>
                  <a:srgbClr val="5B5B5B"/>
                </a:solidFill>
                <a:effectLst/>
                <a:uFillTx/>
                <a:latin typeface="Arial"/>
                <a:ea typeface="Aria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lang="en-GB" sz="800" b="0" u="none" strike="noStrike">
              <a:solidFill>
                <a:srgbClr val="000000"/>
              </a:solidFill>
              <a:effectLst/>
              <a:uFillTx/>
              <a:latin typeface="Arial"/>
            </a:endParaRPr>
          </a:p>
          <a:p>
            <a:pPr>
              <a:lnSpc>
                <a:spcPct val="115000"/>
              </a:lnSpc>
              <a:spcBef>
                <a:spcPts val="700"/>
              </a:spcBef>
              <a:spcAft>
                <a:spcPts val="700"/>
              </a:spcAft>
              <a:tabLst>
                <a:tab pos="0" algn="l"/>
              </a:tabLst>
            </a:pPr>
            <a:r>
              <a:rPr lang="en" sz="800" b="0" u="none" strike="noStrike">
                <a:solidFill>
                  <a:srgbClr val="5B5B5B"/>
                </a:solidFill>
                <a:effectLst/>
                <a:uFillTx/>
                <a:latin typeface="Arial"/>
                <a:ea typeface="Aria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lang="en-GB" sz="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p:cNvSpPr>
          <p:nvPr>
            <p:ph/>
          </p:nvPr>
        </p:nvSpPr>
        <p:spPr>
          <a:xfrm>
            <a:off x="365760" y="274320"/>
            <a:ext cx="1923120" cy="68292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Agenda</a:t>
            </a:r>
            <a:endParaRPr lang="en-GB" sz="2600" b="0" u="none" strike="noStrike" dirty="0">
              <a:solidFill>
                <a:srgbClr val="000000"/>
              </a:solidFill>
              <a:effectLst/>
              <a:uFillTx/>
              <a:latin typeface="Arial"/>
            </a:endParaRPr>
          </a:p>
        </p:txBody>
      </p:sp>
      <p:sp>
        <p:nvSpPr>
          <p:cNvPr id="281" name="PlaceHolder 2"/>
          <p:cNvSpPr>
            <a:spLocks noGrp="1"/>
          </p:cNvSpPr>
          <p:nvPr>
            <p:ph/>
          </p:nvPr>
        </p:nvSpPr>
        <p:spPr>
          <a:xfrm>
            <a:off x="2961360" y="914400"/>
            <a:ext cx="5722560" cy="3769200"/>
          </a:xfrm>
          <a:prstGeom prst="rect">
            <a:avLst/>
          </a:prstGeom>
          <a:noFill/>
          <a:ln w="0">
            <a:noFill/>
          </a:ln>
        </p:spPr>
        <p:txBody>
          <a:bodyPr lIns="365760" tIns="91440" rIns="91440" bIns="91440" anchor="ctr">
            <a:noAutofit/>
          </a:bodyPr>
          <a:lstStyle/>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Cost Detail by Year</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Year-by-Year Costs &amp; Cost Mix</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Warehouse Workloads</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Serverless &amp; AI / Cortex</a:t>
            </a:r>
            <a:endParaRPr lang="en-GB" sz="1800" b="0" u="none" strike="noStrike" dirty="0">
              <a:solidFill>
                <a:srgbClr val="000000"/>
              </a:solidFill>
              <a:effectLst/>
              <a:uFillTx/>
              <a:latin typeface="Arial"/>
              <a:ea typeface="Noto Sans SC"/>
            </a:endParaRPr>
          </a:p>
        </p:txBody>
      </p:sp>
      <p:sp>
        <p:nvSpPr>
          <p:cNvPr id="282" name="PlaceHolder 3"/>
          <p:cNvSpPr>
            <a:spLocks noGrp="1"/>
          </p:cNvSpPr>
          <p:nvPr>
            <p:ph type="sldNum" idx="22"/>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A07A6598-7CAD-41C4-B4E3-EEE055F4561F}" type="slidenum">
              <a:rPr lang="en" sz="600" b="0" u="none" strike="noStrike">
                <a:solidFill>
                  <a:srgbClr val="EFEFEF"/>
                </a:solidFill>
                <a:effectLst/>
                <a:uFillTx/>
                <a:latin typeface="Arial"/>
                <a:ea typeface="Arial"/>
              </a:rPr>
              <a:t>2</a:t>
            </a:fld>
            <a:endParaRPr lang="en-GB" sz="600" b="0" u="none" strike="noStrike">
              <a:solidFill>
                <a:srgbClr val="000000"/>
              </a:solidFill>
              <a:effectLst/>
              <a:uFillTx/>
              <a:latin typeface="Times New Roman"/>
            </a:endParaRPr>
          </a:p>
        </p:txBody>
      </p:sp>
      <p:sp>
        <p:nvSpPr>
          <p:cNvPr id="283" name="TextBox 282"/>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2">
            <a:extLst>
              <a:ext uri="{FF2B5EF4-FFF2-40B4-BE49-F238E27FC236}">
                <a16:creationId xmlns:a16="http://schemas.microsoft.com/office/drawing/2014/main" id="{AE56F403-19EB-2DDF-9FF0-9F79C1859D60}"/>
              </a:ext>
            </a:extLst>
          </p:cNvPr>
          <p:cNvSpPr>
            <a:spLocks noGrp="1"/>
          </p:cNvSpPr>
          <p:nvPr>
            <p:ph type="title"/>
          </p:nvPr>
        </p:nvSpPr>
        <p:spPr>
          <a:xfrm>
            <a:off x="365760" y="274320"/>
            <a:ext cx="8318160" cy="524759"/>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Understanding Your Snowflake Costs</a:t>
            </a:r>
            <a:endParaRPr lang="en-GB" sz="2600" b="0" u="none" strike="noStrike" dirty="0">
              <a:solidFill>
                <a:srgbClr val="000000"/>
              </a:solidFill>
              <a:effectLst/>
              <a:uFillTx/>
              <a:latin typeface="Arial"/>
            </a:endParaRPr>
          </a:p>
        </p:txBody>
      </p:sp>
      <p:sp>
        <p:nvSpPr>
          <p:cNvPr id="304" name="PlaceHolder 3">
            <a:extLst>
              <a:ext uri="{FF2B5EF4-FFF2-40B4-BE49-F238E27FC236}">
                <a16:creationId xmlns:a16="http://schemas.microsoft.com/office/drawing/2014/main" id="{8774F860-D513-3347-92C7-31C9D882DF4B}"/>
              </a:ext>
            </a:extLst>
          </p:cNvPr>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7</a:t>
            </a:fld>
            <a:endParaRPr lang="en-GB" sz="600" b="0" u="none" strike="noStrike">
              <a:solidFill>
                <a:srgbClr val="000000"/>
              </a:solidFill>
              <a:effectLst/>
              <a:uFillTx/>
              <a:latin typeface="Times New Roman"/>
            </a:endParaRPr>
          </a:p>
        </p:txBody>
      </p:sp>
      <p:sp>
        <p:nvSpPr>
          <p:cNvPr id="305" name="PlaceHolder 4">
            <a:extLst>
              <a:ext uri="{FF2B5EF4-FFF2-40B4-BE49-F238E27FC236}">
                <a16:creationId xmlns:a16="http://schemas.microsoft.com/office/drawing/2014/main" id="{B1AE5BCE-ABF3-3919-8789-E2C588DCBAB9}"/>
              </a:ext>
            </a:extLst>
          </p:cNvPr>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Pricing &amp; sizing basis</a:t>
            </a:r>
            <a:endParaRPr lang="en-GB" sz="1800" b="0" u="none" strike="noStrike">
              <a:solidFill>
                <a:srgbClr val="000000"/>
              </a:solidFill>
              <a:effectLst/>
              <a:uFillTx/>
              <a:latin typeface="Arial"/>
            </a:endParaRPr>
          </a:p>
        </p:txBody>
      </p:sp>
      <p:sp>
        <p:nvSpPr>
          <p:cNvPr id="306" name="TextBox 305">
            <a:extLst>
              <a:ext uri="{FF2B5EF4-FFF2-40B4-BE49-F238E27FC236}">
                <a16:creationId xmlns:a16="http://schemas.microsoft.com/office/drawing/2014/main" id="{64902E9D-2550-A59F-D905-422913BB814A}"/>
              </a:ext>
            </a:extLst>
          </p:cNvPr>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
        <p:nvSpPr>
          <p:cNvPr id="2" name="Google Shape;1201;p114">
            <a:extLst>
              <a:ext uri="{FF2B5EF4-FFF2-40B4-BE49-F238E27FC236}">
                <a16:creationId xmlns:a16="http://schemas.microsoft.com/office/drawing/2014/main" id="{BF687483-CB31-59BA-51B7-7C2D76836304}"/>
              </a:ext>
            </a:extLst>
          </p:cNvPr>
          <p:cNvSpPr/>
          <p:nvPr/>
        </p:nvSpPr>
        <p:spPr>
          <a:xfrm rot="-320584">
            <a:off x="-113928" y="2034063"/>
            <a:ext cx="9391205" cy="1673244"/>
          </a:xfrm>
          <a:prstGeom prst="roundRect">
            <a:avLst>
              <a:gd name="adj" fmla="val 0"/>
            </a:avLst>
          </a:prstGeom>
          <a:solidFill>
            <a:srgbClr val="29B5E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
        <p:nvSpPr>
          <p:cNvPr id="3" name="Google Shape;1202;p114">
            <a:extLst>
              <a:ext uri="{FF2B5EF4-FFF2-40B4-BE49-F238E27FC236}">
                <a16:creationId xmlns:a16="http://schemas.microsoft.com/office/drawing/2014/main" id="{8C57B5F3-83DB-FC16-D72E-C631FDA7FA95}"/>
              </a:ext>
            </a:extLst>
          </p:cNvPr>
          <p:cNvSpPr/>
          <p:nvPr/>
        </p:nvSpPr>
        <p:spPr>
          <a:xfrm>
            <a:off x="3274875"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Compute</a:t>
            </a:r>
            <a:endParaRPr b="1" dirty="0">
              <a:solidFill>
                <a:srgbClr val="434343"/>
              </a:solidFill>
              <a:latin typeface="Lato"/>
              <a:ea typeface="Lato"/>
              <a:cs typeface="Lato"/>
              <a:sym typeface="Lato"/>
            </a:endParaRPr>
          </a:p>
          <a:p>
            <a:pPr marL="0" lvl="0" indent="0" algn="l" rtl="0">
              <a:lnSpc>
                <a:spcPct val="115000"/>
              </a:lnSpc>
              <a:spcBef>
                <a:spcPts val="13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Credits</a:t>
            </a:r>
            <a:endParaRPr sz="1000" b="1" dirty="0">
              <a:solidFill>
                <a:schemeClr val="accent1"/>
              </a:solidFill>
              <a:latin typeface="Lato"/>
              <a:ea typeface="Lato"/>
              <a:cs typeface="Lato"/>
              <a:sym typeface="Lato"/>
            </a:endParaRPr>
          </a:p>
          <a:p>
            <a:pPr lvl="0">
              <a:lnSpc>
                <a:spcPct val="115000"/>
              </a:lnSpc>
              <a:spcBef>
                <a:spcPts val="900"/>
              </a:spcBef>
            </a:pPr>
            <a:r>
              <a:rPr lang="en-GB" sz="1000" dirty="0">
                <a:solidFill>
                  <a:srgbClr val="434343"/>
                </a:solidFill>
                <a:latin typeface="Lato"/>
                <a:ea typeface="Lato"/>
                <a:cs typeface="Lato"/>
                <a:sym typeface="Lato"/>
              </a:rPr>
              <a:t>Virtual Warehouses &amp; Container Services for query execution, data loading/unloading, and app hosting. Billed only for active runtime.</a:t>
            </a:r>
          </a:p>
          <a:p>
            <a:pPr lvl="0">
              <a:lnSpc>
                <a:spcPct val="115000"/>
              </a:lnSpc>
              <a:spcBef>
                <a:spcPts val="900"/>
              </a:spcBef>
            </a:pPr>
            <a:r>
              <a:rPr lang="en-GB" sz="1000" dirty="0">
                <a:solidFill>
                  <a:srgbClr val="434343"/>
                </a:solidFill>
                <a:latin typeface="Lato"/>
                <a:ea typeface="Lato"/>
                <a:cs typeface="Lato"/>
                <a:sym typeface="Lato"/>
              </a:rPr>
              <a:t>Serverless features included: Automatic Clustering · Serverless Tasks · </a:t>
            </a:r>
            <a:r>
              <a:rPr lang="en-GB" sz="1000" dirty="0" err="1">
                <a:solidFill>
                  <a:srgbClr val="434343"/>
                </a:solidFill>
                <a:latin typeface="Lato"/>
                <a:ea typeface="Lato"/>
                <a:cs typeface="Lato"/>
                <a:sym typeface="Lato"/>
              </a:rPr>
              <a:t>Snowpipe</a:t>
            </a:r>
            <a:r>
              <a:rPr lang="en-GB" sz="1000" dirty="0">
                <a:solidFill>
                  <a:srgbClr val="434343"/>
                </a:solidFill>
                <a:latin typeface="Lato"/>
                <a:ea typeface="Lato"/>
                <a:cs typeface="Lato"/>
                <a:sym typeface="Lato"/>
              </a:rPr>
              <a:t> · Cortex AI Tokens</a:t>
            </a:r>
            <a:endParaRPr sz="1000" dirty="0">
              <a:solidFill>
                <a:schemeClr val="accent1"/>
              </a:solidFill>
              <a:latin typeface="Lato"/>
              <a:ea typeface="Lato"/>
              <a:cs typeface="Lato"/>
              <a:sym typeface="Lato"/>
            </a:endParaRPr>
          </a:p>
        </p:txBody>
      </p:sp>
      <p:sp>
        <p:nvSpPr>
          <p:cNvPr id="5" name="Google Shape;1204;p114">
            <a:extLst>
              <a:ext uri="{FF2B5EF4-FFF2-40B4-BE49-F238E27FC236}">
                <a16:creationId xmlns:a16="http://schemas.microsoft.com/office/drawing/2014/main" id="{055595EC-F32B-C4B1-BA48-558AECB65E71}"/>
              </a:ext>
            </a:extLst>
          </p:cNvPr>
          <p:cNvSpPr/>
          <p:nvPr/>
        </p:nvSpPr>
        <p:spPr>
          <a:xfrm>
            <a:off x="156925"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Data Storage</a:t>
            </a:r>
            <a:endParaRPr b="1"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TB/Month</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automatically compressed by </a:t>
            </a:r>
            <a:r>
              <a:rPr lang="en" sz="1000" dirty="0" err="1">
                <a:solidFill>
                  <a:srgbClr val="434343"/>
                </a:solidFill>
                <a:latin typeface="Lato"/>
                <a:ea typeface="Lato"/>
                <a:cs typeface="Lato"/>
                <a:sym typeface="Lato"/>
              </a:rPr>
              <a:t>upto</a:t>
            </a:r>
            <a:r>
              <a:rPr lang="en" sz="1000" dirty="0">
                <a:solidFill>
                  <a:srgbClr val="434343"/>
                </a:solidFill>
                <a:latin typeface="Lato"/>
                <a:ea typeface="Lato"/>
                <a:cs typeface="Lato"/>
                <a:sym typeface="Lato"/>
              </a:rPr>
              <a:t> 10x. You pay on compressed data.</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automatically encrypted</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is resiliently distributed across three Availability Zones</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900"/>
              </a:spcAft>
              <a:buNone/>
            </a:pPr>
            <a:r>
              <a:rPr lang="en" sz="1000" dirty="0">
                <a:solidFill>
                  <a:srgbClr val="434343"/>
                </a:solidFill>
                <a:latin typeface="Lato"/>
                <a:ea typeface="Lato"/>
                <a:cs typeface="Lato"/>
                <a:sym typeface="Lato"/>
              </a:rPr>
              <a:t>Fees calculated based on the average storage used per month, after compression</a:t>
            </a:r>
            <a:endParaRPr sz="1000" dirty="0">
              <a:solidFill>
                <a:srgbClr val="434343"/>
              </a:solidFill>
              <a:latin typeface="Lato"/>
              <a:ea typeface="Lato"/>
              <a:cs typeface="Lato"/>
              <a:sym typeface="Lato"/>
            </a:endParaRPr>
          </a:p>
        </p:txBody>
      </p:sp>
      <p:grpSp>
        <p:nvGrpSpPr>
          <p:cNvPr id="6" name="Google Shape;1205;p114">
            <a:extLst>
              <a:ext uri="{FF2B5EF4-FFF2-40B4-BE49-F238E27FC236}">
                <a16:creationId xmlns:a16="http://schemas.microsoft.com/office/drawing/2014/main" id="{6B22F66E-68E4-C111-EB76-A2C2DD3A544B}"/>
              </a:ext>
            </a:extLst>
          </p:cNvPr>
          <p:cNvGrpSpPr/>
          <p:nvPr/>
        </p:nvGrpSpPr>
        <p:grpSpPr>
          <a:xfrm>
            <a:off x="2384739" y="1503715"/>
            <a:ext cx="241573" cy="241751"/>
            <a:chOff x="5878707" y="747121"/>
            <a:chExt cx="3883818" cy="3886674"/>
          </a:xfrm>
        </p:grpSpPr>
        <p:sp>
          <p:nvSpPr>
            <p:cNvPr id="7" name="Google Shape;1206;p114">
              <a:extLst>
                <a:ext uri="{FF2B5EF4-FFF2-40B4-BE49-F238E27FC236}">
                  <a16:creationId xmlns:a16="http://schemas.microsoft.com/office/drawing/2014/main" id="{6E31A24B-A7A6-8641-7DC1-45648DBD896A}"/>
                </a:ext>
              </a:extLst>
            </p:cNvPr>
            <p:cNvSpPr/>
            <p:nvPr/>
          </p:nvSpPr>
          <p:spPr>
            <a:xfrm>
              <a:off x="6934812" y="1803902"/>
              <a:ext cx="1773206" cy="1773209"/>
            </a:xfrm>
            <a:custGeom>
              <a:avLst/>
              <a:gdLst/>
              <a:ahLst/>
              <a:cxnLst/>
              <a:rect l="l" t="t" r="r" b="b"/>
              <a:pathLst>
                <a:path w="1773206" h="1773209" extrusionOk="0">
                  <a:moveTo>
                    <a:pt x="1716484" y="765933"/>
                  </a:moveTo>
                  <a:lnTo>
                    <a:pt x="1506687" y="886605"/>
                  </a:lnTo>
                  <a:lnTo>
                    <a:pt x="1716484" y="1006991"/>
                  </a:lnTo>
                  <a:cubicBezTo>
                    <a:pt x="1769704" y="1036551"/>
                    <a:pt x="1788878" y="1103652"/>
                    <a:pt x="1759318" y="1156862"/>
                  </a:cubicBezTo>
                  <a:cubicBezTo>
                    <a:pt x="1729768" y="1210081"/>
                    <a:pt x="1662667" y="1229255"/>
                    <a:pt x="1609448" y="1199705"/>
                  </a:cubicBezTo>
                  <a:cubicBezTo>
                    <a:pt x="1608279" y="1199049"/>
                    <a:pt x="1607120" y="1198384"/>
                    <a:pt x="1605980" y="1197691"/>
                  </a:cubicBezTo>
                  <a:lnTo>
                    <a:pt x="1230282" y="981812"/>
                  </a:lnTo>
                  <a:cubicBezTo>
                    <a:pt x="1177623" y="951596"/>
                    <a:pt x="1159428" y="884400"/>
                    <a:pt x="1189653" y="831742"/>
                  </a:cubicBezTo>
                  <a:cubicBezTo>
                    <a:pt x="1199354" y="814838"/>
                    <a:pt x="1213378" y="800814"/>
                    <a:pt x="1230282" y="791112"/>
                  </a:cubicBezTo>
                  <a:lnTo>
                    <a:pt x="1605980" y="575329"/>
                  </a:lnTo>
                  <a:cubicBezTo>
                    <a:pt x="1658800" y="544971"/>
                    <a:pt x="1726224" y="562919"/>
                    <a:pt x="1756962" y="615521"/>
                  </a:cubicBezTo>
                  <a:cubicBezTo>
                    <a:pt x="1787377" y="667761"/>
                    <a:pt x="1769684" y="734777"/>
                    <a:pt x="1717444" y="765192"/>
                  </a:cubicBezTo>
                  <a:cubicBezTo>
                    <a:pt x="1717121" y="765372"/>
                    <a:pt x="1716808" y="765562"/>
                    <a:pt x="1716484" y="765743"/>
                  </a:cubicBezTo>
                  <a:close/>
                  <a:moveTo>
                    <a:pt x="1517899" y="1351048"/>
                  </a:moveTo>
                  <a:lnTo>
                    <a:pt x="1142296" y="1135455"/>
                  </a:lnTo>
                  <a:cubicBezTo>
                    <a:pt x="1089068" y="1104964"/>
                    <a:pt x="1021197" y="1123397"/>
                    <a:pt x="990706" y="1176625"/>
                  </a:cubicBezTo>
                  <a:cubicBezTo>
                    <a:pt x="981299" y="1193026"/>
                    <a:pt x="976244" y="1211563"/>
                    <a:pt x="976016" y="1230472"/>
                  </a:cubicBezTo>
                  <a:lnTo>
                    <a:pt x="976016" y="1662040"/>
                  </a:lnTo>
                  <a:cubicBezTo>
                    <a:pt x="977802" y="1723098"/>
                    <a:pt x="1028751" y="1771138"/>
                    <a:pt x="1089809" y="1769352"/>
                  </a:cubicBezTo>
                  <a:cubicBezTo>
                    <a:pt x="1148349" y="1767632"/>
                    <a:pt x="1195401" y="1720579"/>
                    <a:pt x="1197121" y="1662040"/>
                  </a:cubicBezTo>
                  <a:lnTo>
                    <a:pt x="1197121" y="1420696"/>
                  </a:lnTo>
                  <a:lnTo>
                    <a:pt x="1407489" y="1541463"/>
                  </a:lnTo>
                  <a:cubicBezTo>
                    <a:pt x="1459311" y="1573408"/>
                    <a:pt x="1527210" y="1557293"/>
                    <a:pt x="1559155" y="1505480"/>
                  </a:cubicBezTo>
                  <a:cubicBezTo>
                    <a:pt x="1591100" y="1453658"/>
                    <a:pt x="1574985" y="1385758"/>
                    <a:pt x="1523172" y="1353813"/>
                  </a:cubicBezTo>
                  <a:cubicBezTo>
                    <a:pt x="1521443" y="1352749"/>
                    <a:pt x="1519685" y="1351732"/>
                    <a:pt x="1517899" y="1350763"/>
                  </a:cubicBezTo>
                  <a:close/>
                  <a:moveTo>
                    <a:pt x="1084526" y="929077"/>
                  </a:moveTo>
                  <a:lnTo>
                    <a:pt x="928318" y="1084335"/>
                  </a:lnTo>
                  <a:cubicBezTo>
                    <a:pt x="922958" y="1089295"/>
                    <a:pt x="916032" y="1092222"/>
                    <a:pt x="908744" y="1092602"/>
                  </a:cubicBezTo>
                  <a:lnTo>
                    <a:pt x="863231" y="1092602"/>
                  </a:lnTo>
                  <a:cubicBezTo>
                    <a:pt x="855914" y="1092193"/>
                    <a:pt x="848969" y="1089267"/>
                    <a:pt x="843562" y="1084335"/>
                  </a:cubicBezTo>
                  <a:lnTo>
                    <a:pt x="687164" y="929077"/>
                  </a:lnTo>
                  <a:cubicBezTo>
                    <a:pt x="682394" y="923842"/>
                    <a:pt x="679544" y="917143"/>
                    <a:pt x="679088" y="910074"/>
                  </a:cubicBezTo>
                  <a:lnTo>
                    <a:pt x="679088" y="864276"/>
                  </a:lnTo>
                  <a:cubicBezTo>
                    <a:pt x="679439" y="857016"/>
                    <a:pt x="682290" y="850099"/>
                    <a:pt x="687164" y="844702"/>
                  </a:cubicBezTo>
                  <a:lnTo>
                    <a:pt x="843182" y="689539"/>
                  </a:lnTo>
                  <a:cubicBezTo>
                    <a:pt x="848598" y="684627"/>
                    <a:pt x="855553" y="681748"/>
                    <a:pt x="862851" y="681368"/>
                  </a:cubicBezTo>
                  <a:lnTo>
                    <a:pt x="908744" y="681368"/>
                  </a:lnTo>
                  <a:cubicBezTo>
                    <a:pt x="916022" y="681729"/>
                    <a:pt x="922949" y="684617"/>
                    <a:pt x="928318" y="689539"/>
                  </a:cubicBezTo>
                  <a:lnTo>
                    <a:pt x="1084526" y="844702"/>
                  </a:lnTo>
                  <a:cubicBezTo>
                    <a:pt x="1089334" y="850128"/>
                    <a:pt x="1092146" y="857035"/>
                    <a:pt x="1092507" y="864276"/>
                  </a:cubicBezTo>
                  <a:lnTo>
                    <a:pt x="1092507" y="910074"/>
                  </a:lnTo>
                  <a:cubicBezTo>
                    <a:pt x="1092041" y="917124"/>
                    <a:pt x="1089229" y="923813"/>
                    <a:pt x="1084526" y="929077"/>
                  </a:cubicBezTo>
                  <a:close/>
                  <a:moveTo>
                    <a:pt x="959673" y="886035"/>
                  </a:moveTo>
                  <a:cubicBezTo>
                    <a:pt x="959179" y="878737"/>
                    <a:pt x="956272" y="871820"/>
                    <a:pt x="951407" y="866366"/>
                  </a:cubicBezTo>
                  <a:lnTo>
                    <a:pt x="906179" y="821613"/>
                  </a:lnTo>
                  <a:cubicBezTo>
                    <a:pt x="900810" y="816748"/>
                    <a:pt x="893931" y="813860"/>
                    <a:pt x="886700" y="813442"/>
                  </a:cubicBezTo>
                  <a:lnTo>
                    <a:pt x="884895" y="813442"/>
                  </a:lnTo>
                  <a:cubicBezTo>
                    <a:pt x="877816" y="813926"/>
                    <a:pt x="871117" y="816815"/>
                    <a:pt x="865891" y="821613"/>
                  </a:cubicBezTo>
                  <a:lnTo>
                    <a:pt x="820568" y="866366"/>
                  </a:lnTo>
                  <a:cubicBezTo>
                    <a:pt x="815808" y="871849"/>
                    <a:pt x="813033" y="878775"/>
                    <a:pt x="812682" y="886035"/>
                  </a:cubicBezTo>
                  <a:lnTo>
                    <a:pt x="812682" y="887745"/>
                  </a:lnTo>
                  <a:cubicBezTo>
                    <a:pt x="813081" y="894786"/>
                    <a:pt x="815865" y="901494"/>
                    <a:pt x="820568" y="906748"/>
                  </a:cubicBezTo>
                  <a:lnTo>
                    <a:pt x="865891" y="951691"/>
                  </a:lnTo>
                  <a:cubicBezTo>
                    <a:pt x="871146" y="956423"/>
                    <a:pt x="877835" y="959274"/>
                    <a:pt x="884895" y="959768"/>
                  </a:cubicBezTo>
                  <a:lnTo>
                    <a:pt x="886700" y="959768"/>
                  </a:lnTo>
                  <a:cubicBezTo>
                    <a:pt x="893912" y="959340"/>
                    <a:pt x="900772" y="956490"/>
                    <a:pt x="906179" y="951691"/>
                  </a:cubicBezTo>
                  <a:lnTo>
                    <a:pt x="951407" y="906748"/>
                  </a:lnTo>
                  <a:cubicBezTo>
                    <a:pt x="956214" y="901522"/>
                    <a:pt x="959132" y="894824"/>
                    <a:pt x="959673" y="887745"/>
                  </a:cubicBezTo>
                  <a:close/>
                  <a:moveTo>
                    <a:pt x="253696" y="422161"/>
                  </a:moveTo>
                  <a:lnTo>
                    <a:pt x="629394" y="637945"/>
                  </a:lnTo>
                  <a:cubicBezTo>
                    <a:pt x="682651" y="668493"/>
                    <a:pt x="750588" y="650079"/>
                    <a:pt x="781136" y="596821"/>
                  </a:cubicBezTo>
                  <a:cubicBezTo>
                    <a:pt x="790552" y="580403"/>
                    <a:pt x="795626" y="561855"/>
                    <a:pt x="795864" y="542928"/>
                  </a:cubicBezTo>
                  <a:lnTo>
                    <a:pt x="795864" y="110600"/>
                  </a:lnTo>
                  <a:cubicBezTo>
                    <a:pt x="795864" y="49513"/>
                    <a:pt x="746350" y="0"/>
                    <a:pt x="685264" y="0"/>
                  </a:cubicBezTo>
                  <a:cubicBezTo>
                    <a:pt x="624177" y="0"/>
                    <a:pt x="574664" y="49513"/>
                    <a:pt x="574664" y="110600"/>
                  </a:cubicBezTo>
                  <a:lnTo>
                    <a:pt x="574664" y="352133"/>
                  </a:lnTo>
                  <a:lnTo>
                    <a:pt x="364201" y="231177"/>
                  </a:lnTo>
                  <a:cubicBezTo>
                    <a:pt x="313614" y="197312"/>
                    <a:pt x="245163" y="210862"/>
                    <a:pt x="211290" y="261449"/>
                  </a:cubicBezTo>
                  <a:cubicBezTo>
                    <a:pt x="177426" y="312027"/>
                    <a:pt x="190975" y="380487"/>
                    <a:pt x="241562" y="414351"/>
                  </a:cubicBezTo>
                  <a:cubicBezTo>
                    <a:pt x="245334" y="416878"/>
                    <a:pt x="249259" y="419168"/>
                    <a:pt x="253316" y="421211"/>
                  </a:cubicBezTo>
                  <a:lnTo>
                    <a:pt x="253316" y="421211"/>
                  </a:lnTo>
                  <a:close/>
                  <a:moveTo>
                    <a:pt x="1078255" y="652292"/>
                  </a:moveTo>
                  <a:cubicBezTo>
                    <a:pt x="1100565" y="654088"/>
                    <a:pt x="1122884" y="649081"/>
                    <a:pt x="1142296" y="637945"/>
                  </a:cubicBezTo>
                  <a:lnTo>
                    <a:pt x="1517899" y="422161"/>
                  </a:lnTo>
                  <a:cubicBezTo>
                    <a:pt x="1570576" y="391974"/>
                    <a:pt x="1588800" y="324787"/>
                    <a:pt x="1558614" y="272119"/>
                  </a:cubicBezTo>
                  <a:cubicBezTo>
                    <a:pt x="1558595" y="272091"/>
                    <a:pt x="1558585" y="272062"/>
                    <a:pt x="1558566" y="272034"/>
                  </a:cubicBezTo>
                  <a:lnTo>
                    <a:pt x="1558566" y="272034"/>
                  </a:lnTo>
                  <a:cubicBezTo>
                    <a:pt x="1527894" y="219404"/>
                    <a:pt x="1460470" y="201436"/>
                    <a:pt x="1407679" y="231842"/>
                  </a:cubicBezTo>
                  <a:lnTo>
                    <a:pt x="1197311" y="352799"/>
                  </a:lnTo>
                  <a:lnTo>
                    <a:pt x="1197311" y="110600"/>
                  </a:lnTo>
                  <a:cubicBezTo>
                    <a:pt x="1195525" y="49542"/>
                    <a:pt x="1144576" y="1501"/>
                    <a:pt x="1083519" y="3288"/>
                  </a:cubicBezTo>
                  <a:cubicBezTo>
                    <a:pt x="1024978" y="5007"/>
                    <a:pt x="977926" y="52060"/>
                    <a:pt x="976206" y="110600"/>
                  </a:cubicBezTo>
                  <a:lnTo>
                    <a:pt x="976206" y="542263"/>
                  </a:lnTo>
                  <a:cubicBezTo>
                    <a:pt x="976301" y="599967"/>
                    <a:pt x="1020893" y="647827"/>
                    <a:pt x="1078445" y="652007"/>
                  </a:cubicBezTo>
                  <a:close/>
                  <a:moveTo>
                    <a:pt x="693530" y="1121392"/>
                  </a:moveTo>
                  <a:cubicBezTo>
                    <a:pt x="671182" y="1119492"/>
                    <a:pt x="648796" y="1124499"/>
                    <a:pt x="629394" y="1135740"/>
                  </a:cubicBezTo>
                  <a:lnTo>
                    <a:pt x="253696" y="1351333"/>
                  </a:lnTo>
                  <a:cubicBezTo>
                    <a:pt x="200477" y="1380893"/>
                    <a:pt x="181302" y="1447994"/>
                    <a:pt x="210862" y="1501204"/>
                  </a:cubicBezTo>
                  <a:cubicBezTo>
                    <a:pt x="240413" y="1554423"/>
                    <a:pt x="307514" y="1573598"/>
                    <a:pt x="360733" y="1544047"/>
                  </a:cubicBezTo>
                  <a:cubicBezTo>
                    <a:pt x="361902" y="1543392"/>
                    <a:pt x="363061" y="1542727"/>
                    <a:pt x="364201" y="1542033"/>
                  </a:cubicBezTo>
                  <a:lnTo>
                    <a:pt x="574664" y="1421266"/>
                  </a:lnTo>
                  <a:lnTo>
                    <a:pt x="574664" y="1662610"/>
                  </a:lnTo>
                  <a:cubicBezTo>
                    <a:pt x="574664" y="1723696"/>
                    <a:pt x="624177" y="1773209"/>
                    <a:pt x="685264" y="1773209"/>
                  </a:cubicBezTo>
                  <a:cubicBezTo>
                    <a:pt x="746350" y="1773209"/>
                    <a:pt x="795864" y="1723696"/>
                    <a:pt x="795864" y="1662610"/>
                  </a:cubicBezTo>
                  <a:lnTo>
                    <a:pt x="795864" y="1230757"/>
                  </a:lnTo>
                  <a:cubicBezTo>
                    <a:pt x="795759" y="1173034"/>
                    <a:pt x="751111" y="1125193"/>
                    <a:pt x="693530" y="1121107"/>
                  </a:cubicBezTo>
                  <a:close/>
                  <a:moveTo>
                    <a:pt x="591672" y="919291"/>
                  </a:moveTo>
                  <a:cubicBezTo>
                    <a:pt x="595283" y="907699"/>
                    <a:pt x="596983" y="895603"/>
                    <a:pt x="596708" y="883469"/>
                  </a:cubicBezTo>
                  <a:cubicBezTo>
                    <a:pt x="596328" y="874661"/>
                    <a:pt x="594960" y="865929"/>
                    <a:pt x="592622" y="857435"/>
                  </a:cubicBezTo>
                  <a:cubicBezTo>
                    <a:pt x="585049" y="829262"/>
                    <a:pt x="566502" y="805308"/>
                    <a:pt x="541123" y="790923"/>
                  </a:cubicBezTo>
                  <a:lnTo>
                    <a:pt x="165805" y="575139"/>
                  </a:lnTo>
                  <a:cubicBezTo>
                    <a:pt x="112938" y="544762"/>
                    <a:pt x="45466" y="562805"/>
                    <a:pt x="14823" y="615521"/>
                  </a:cubicBezTo>
                  <a:cubicBezTo>
                    <a:pt x="-15564" y="667904"/>
                    <a:pt x="2262" y="734995"/>
                    <a:pt x="54635" y="765391"/>
                  </a:cubicBezTo>
                  <a:cubicBezTo>
                    <a:pt x="54958" y="765572"/>
                    <a:pt x="55272" y="765752"/>
                    <a:pt x="55585" y="765933"/>
                  </a:cubicBezTo>
                  <a:lnTo>
                    <a:pt x="264623" y="886605"/>
                  </a:lnTo>
                  <a:lnTo>
                    <a:pt x="55585" y="1006991"/>
                  </a:lnTo>
                  <a:cubicBezTo>
                    <a:pt x="2927" y="1037530"/>
                    <a:pt x="-15003" y="1104983"/>
                    <a:pt x="15536" y="1157641"/>
                  </a:cubicBezTo>
                  <a:cubicBezTo>
                    <a:pt x="46074" y="1210300"/>
                    <a:pt x="113527" y="1228229"/>
                    <a:pt x="166185" y="1197691"/>
                  </a:cubicBezTo>
                  <a:lnTo>
                    <a:pt x="541503" y="981812"/>
                  </a:lnTo>
                  <a:cubicBezTo>
                    <a:pt x="565694" y="968034"/>
                    <a:pt x="583766" y="945591"/>
                    <a:pt x="592052" y="919006"/>
                  </a:cubicBezTo>
                  <a:close/>
                </a:path>
              </a:pathLst>
            </a:custGeom>
            <a:solidFill>
              <a:srgbClr val="2AB4E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 name="Google Shape;1207;p114">
              <a:extLst>
                <a:ext uri="{FF2B5EF4-FFF2-40B4-BE49-F238E27FC236}">
                  <a16:creationId xmlns:a16="http://schemas.microsoft.com/office/drawing/2014/main" id="{C14878FF-98A9-A2EB-C077-E5444FD7D8B0}"/>
                </a:ext>
              </a:extLst>
            </p:cNvPr>
            <p:cNvSpPr/>
            <p:nvPr/>
          </p:nvSpPr>
          <p:spPr>
            <a:xfrm>
              <a:off x="5878707" y="747121"/>
              <a:ext cx="3883818" cy="3886674"/>
            </a:xfrm>
            <a:custGeom>
              <a:avLst/>
              <a:gdLst/>
              <a:ahLst/>
              <a:cxnLst/>
              <a:rect l="l" t="t" r="r" b="b"/>
              <a:pathLst>
                <a:path w="3883818" h="3886674" extrusionOk="0">
                  <a:moveTo>
                    <a:pt x="3877544" y="2403078"/>
                  </a:moveTo>
                  <a:cubicBezTo>
                    <a:pt x="3865886" y="2363855"/>
                    <a:pt x="3839310" y="2330760"/>
                    <a:pt x="3803526" y="2310911"/>
                  </a:cubicBezTo>
                  <a:lnTo>
                    <a:pt x="3536718" y="2165345"/>
                  </a:lnTo>
                  <a:cubicBezTo>
                    <a:pt x="3544823" y="2087992"/>
                    <a:pt x="3547997" y="2010211"/>
                    <a:pt x="3546220" y="1932458"/>
                  </a:cubicBezTo>
                  <a:cubicBezTo>
                    <a:pt x="3547731" y="1856730"/>
                    <a:pt x="3544899" y="1780972"/>
                    <a:pt x="3537763" y="1705557"/>
                  </a:cubicBezTo>
                  <a:lnTo>
                    <a:pt x="3805807" y="1553530"/>
                  </a:lnTo>
                  <a:cubicBezTo>
                    <a:pt x="3841267" y="1533310"/>
                    <a:pt x="3867064" y="1499636"/>
                    <a:pt x="3877354" y="1460128"/>
                  </a:cubicBezTo>
                  <a:cubicBezTo>
                    <a:pt x="3887322" y="1421665"/>
                    <a:pt x="3882115" y="1380836"/>
                    <a:pt x="3862817" y="1346108"/>
                  </a:cubicBezTo>
                  <a:lnTo>
                    <a:pt x="3413006" y="584735"/>
                  </a:lnTo>
                  <a:cubicBezTo>
                    <a:pt x="3386087" y="538583"/>
                    <a:pt x="3336546" y="510349"/>
                    <a:pt x="3283117" y="510717"/>
                  </a:cubicBezTo>
                  <a:cubicBezTo>
                    <a:pt x="3258270" y="510712"/>
                    <a:pt x="3233756" y="516538"/>
                    <a:pt x="3211570" y="527725"/>
                  </a:cubicBezTo>
                  <a:lnTo>
                    <a:pt x="2938680" y="676902"/>
                  </a:lnTo>
                  <a:cubicBezTo>
                    <a:pt x="2814369" y="576782"/>
                    <a:pt x="2676281" y="495085"/>
                    <a:pt x="2528682" y="434323"/>
                  </a:cubicBezTo>
                  <a:lnTo>
                    <a:pt x="2528682" y="150412"/>
                  </a:lnTo>
                  <a:cubicBezTo>
                    <a:pt x="2527807" y="67670"/>
                    <a:pt x="2460915" y="823"/>
                    <a:pt x="2378174" y="0"/>
                  </a:cubicBezTo>
                  <a:lnTo>
                    <a:pt x="1473231" y="0"/>
                  </a:lnTo>
                  <a:cubicBezTo>
                    <a:pt x="1390528" y="874"/>
                    <a:pt x="1323693" y="67707"/>
                    <a:pt x="1322819" y="150412"/>
                  </a:cubicBezTo>
                  <a:lnTo>
                    <a:pt x="1322819" y="437934"/>
                  </a:lnTo>
                  <a:cubicBezTo>
                    <a:pt x="1185519" y="496700"/>
                    <a:pt x="1058244" y="576559"/>
                    <a:pt x="945601" y="674622"/>
                  </a:cubicBezTo>
                  <a:lnTo>
                    <a:pt x="703118" y="531336"/>
                  </a:lnTo>
                  <a:cubicBezTo>
                    <a:pt x="680000" y="517979"/>
                    <a:pt x="653803" y="510873"/>
                    <a:pt x="627104" y="510717"/>
                  </a:cubicBezTo>
                  <a:cubicBezTo>
                    <a:pt x="573700" y="510345"/>
                    <a:pt x="524182" y="538584"/>
                    <a:pt x="497310" y="584735"/>
                  </a:cubicBezTo>
                  <a:lnTo>
                    <a:pt x="45504" y="1346488"/>
                  </a:lnTo>
                  <a:cubicBezTo>
                    <a:pt x="22685" y="1382699"/>
                    <a:pt x="17347" y="1427252"/>
                    <a:pt x="30966" y="1467824"/>
                  </a:cubicBezTo>
                  <a:cubicBezTo>
                    <a:pt x="40870" y="1506838"/>
                    <a:pt x="66265" y="1540132"/>
                    <a:pt x="101279" y="1559991"/>
                  </a:cubicBezTo>
                  <a:lnTo>
                    <a:pt x="380059" y="1717719"/>
                  </a:lnTo>
                  <a:cubicBezTo>
                    <a:pt x="379489" y="1724988"/>
                    <a:pt x="379489" y="1732295"/>
                    <a:pt x="380059" y="1739573"/>
                  </a:cubicBezTo>
                  <a:lnTo>
                    <a:pt x="380059" y="1768649"/>
                  </a:lnTo>
                  <a:cubicBezTo>
                    <a:pt x="372541" y="1824585"/>
                    <a:pt x="368101" y="1880883"/>
                    <a:pt x="366757" y="1937304"/>
                  </a:cubicBezTo>
                  <a:lnTo>
                    <a:pt x="366757" y="2164110"/>
                  </a:lnTo>
                  <a:lnTo>
                    <a:pt x="79425" y="2312147"/>
                  </a:lnTo>
                  <a:cubicBezTo>
                    <a:pt x="43825" y="2330722"/>
                    <a:pt x="17484" y="2363180"/>
                    <a:pt x="6642" y="2401843"/>
                  </a:cubicBezTo>
                  <a:cubicBezTo>
                    <a:pt x="-5613" y="2442425"/>
                    <a:pt x="-774" y="2486246"/>
                    <a:pt x="20040" y="2523179"/>
                  </a:cubicBezTo>
                  <a:lnTo>
                    <a:pt x="470041" y="3300800"/>
                  </a:lnTo>
                  <a:cubicBezTo>
                    <a:pt x="496445" y="3347681"/>
                    <a:pt x="546032" y="3376718"/>
                    <a:pt x="599834" y="3376814"/>
                  </a:cubicBezTo>
                  <a:cubicBezTo>
                    <a:pt x="625289" y="3376557"/>
                    <a:pt x="650288" y="3370029"/>
                    <a:pt x="672617" y="3357810"/>
                  </a:cubicBezTo>
                  <a:lnTo>
                    <a:pt x="945601" y="3209773"/>
                  </a:lnTo>
                  <a:cubicBezTo>
                    <a:pt x="1058463" y="3306871"/>
                    <a:pt x="1185719" y="3385850"/>
                    <a:pt x="1322819" y="3443896"/>
                  </a:cubicBezTo>
                  <a:lnTo>
                    <a:pt x="1322819" y="3736263"/>
                  </a:lnTo>
                  <a:cubicBezTo>
                    <a:pt x="1323693" y="3818966"/>
                    <a:pt x="1390528" y="3885801"/>
                    <a:pt x="1473231" y="3886675"/>
                  </a:cubicBezTo>
                  <a:lnTo>
                    <a:pt x="2378174" y="3886675"/>
                  </a:lnTo>
                  <a:cubicBezTo>
                    <a:pt x="2460915" y="3885849"/>
                    <a:pt x="2527807" y="3819004"/>
                    <a:pt x="2528682" y="3736263"/>
                  </a:cubicBezTo>
                  <a:lnTo>
                    <a:pt x="2528682" y="3445131"/>
                  </a:lnTo>
                  <a:cubicBezTo>
                    <a:pt x="2675207" y="3385640"/>
                    <a:pt x="2812726" y="3306016"/>
                    <a:pt x="2937255" y="3208538"/>
                  </a:cubicBezTo>
                  <a:lnTo>
                    <a:pt x="3215085" y="3352964"/>
                  </a:lnTo>
                  <a:cubicBezTo>
                    <a:pt x="3237424" y="3365155"/>
                    <a:pt x="3262423" y="3371683"/>
                    <a:pt x="3287868" y="3371968"/>
                  </a:cubicBezTo>
                  <a:cubicBezTo>
                    <a:pt x="3341771" y="3371796"/>
                    <a:pt x="3391399" y="3342550"/>
                    <a:pt x="3417662" y="3295479"/>
                  </a:cubicBezTo>
                  <a:lnTo>
                    <a:pt x="3866428" y="2519189"/>
                  </a:lnTo>
                  <a:cubicBezTo>
                    <a:pt x="3884813" y="2483320"/>
                    <a:pt x="3888794" y="2441778"/>
                    <a:pt x="3877544" y="2403078"/>
                  </a:cubicBezTo>
                  <a:close/>
                  <a:moveTo>
                    <a:pt x="1516939" y="3185544"/>
                  </a:moveTo>
                  <a:cubicBezTo>
                    <a:pt x="1367107" y="3137446"/>
                    <a:pt x="1229617" y="3057109"/>
                    <a:pt x="1114162" y="2950186"/>
                  </a:cubicBezTo>
                  <a:lnTo>
                    <a:pt x="1057151" y="2906479"/>
                  </a:lnTo>
                  <a:cubicBezTo>
                    <a:pt x="1030746" y="2885081"/>
                    <a:pt x="997728" y="2873527"/>
                    <a:pt x="963750" y="2873793"/>
                  </a:cubicBezTo>
                  <a:cubicBezTo>
                    <a:pt x="938751" y="2873717"/>
                    <a:pt x="914140" y="2879959"/>
                    <a:pt x="892202" y="2891941"/>
                  </a:cubicBezTo>
                  <a:lnTo>
                    <a:pt x="660550" y="3013278"/>
                  </a:lnTo>
                  <a:lnTo>
                    <a:pt x="358490" y="2502561"/>
                  </a:lnTo>
                  <a:lnTo>
                    <a:pt x="582921" y="2381224"/>
                  </a:lnTo>
                  <a:cubicBezTo>
                    <a:pt x="635580" y="2356092"/>
                    <a:pt x="668738" y="2302550"/>
                    <a:pt x="667771" y="2244209"/>
                  </a:cubicBezTo>
                  <a:lnTo>
                    <a:pt x="667771" y="1932458"/>
                  </a:lnTo>
                  <a:cubicBezTo>
                    <a:pt x="665413" y="1888152"/>
                    <a:pt x="665413" y="1843741"/>
                    <a:pt x="667771" y="1799434"/>
                  </a:cubicBezTo>
                  <a:cubicBezTo>
                    <a:pt x="676506" y="1742424"/>
                    <a:pt x="680984" y="1684844"/>
                    <a:pt x="681169" y="1627168"/>
                  </a:cubicBezTo>
                  <a:cubicBezTo>
                    <a:pt x="681239" y="1572999"/>
                    <a:pt x="652213" y="1522963"/>
                    <a:pt x="605155" y="1496140"/>
                  </a:cubicBezTo>
                  <a:lnTo>
                    <a:pt x="382720" y="1367106"/>
                  </a:lnTo>
                  <a:lnTo>
                    <a:pt x="677273" y="866176"/>
                  </a:lnTo>
                  <a:lnTo>
                    <a:pt x="884695" y="987418"/>
                  </a:lnTo>
                  <a:cubicBezTo>
                    <a:pt x="939352" y="1019762"/>
                    <a:pt x="1008493" y="1013928"/>
                    <a:pt x="1056961" y="972880"/>
                  </a:cubicBezTo>
                  <a:lnTo>
                    <a:pt x="1069123" y="963379"/>
                  </a:lnTo>
                  <a:cubicBezTo>
                    <a:pt x="1196009" y="839420"/>
                    <a:pt x="1348930" y="745290"/>
                    <a:pt x="1516749" y="687829"/>
                  </a:cubicBezTo>
                  <a:cubicBezTo>
                    <a:pt x="1579128" y="668361"/>
                    <a:pt x="1622095" y="611207"/>
                    <a:pt x="1623453" y="545873"/>
                  </a:cubicBezTo>
                  <a:lnTo>
                    <a:pt x="1623453" y="303295"/>
                  </a:lnTo>
                  <a:lnTo>
                    <a:pt x="2230043" y="303295"/>
                  </a:lnTo>
                  <a:lnTo>
                    <a:pt x="2230043" y="545873"/>
                  </a:lnTo>
                  <a:cubicBezTo>
                    <a:pt x="2230043" y="611839"/>
                    <a:pt x="2272743" y="670217"/>
                    <a:pt x="2335607" y="690204"/>
                  </a:cubicBezTo>
                  <a:cubicBezTo>
                    <a:pt x="2518087" y="749302"/>
                    <a:pt x="2685944" y="846461"/>
                    <a:pt x="2828081" y="975256"/>
                  </a:cubicBezTo>
                  <a:cubicBezTo>
                    <a:pt x="2855331" y="997927"/>
                    <a:pt x="2889642" y="1010365"/>
                    <a:pt x="2925093" y="1010412"/>
                  </a:cubicBezTo>
                  <a:cubicBezTo>
                    <a:pt x="2950149" y="1010602"/>
                    <a:pt x="2974825" y="1004321"/>
                    <a:pt x="2996736" y="992169"/>
                  </a:cubicBezTo>
                  <a:lnTo>
                    <a:pt x="3229623" y="870927"/>
                  </a:lnTo>
                  <a:lnTo>
                    <a:pt x="3526836" y="1375563"/>
                  </a:lnTo>
                  <a:lnTo>
                    <a:pt x="3298795" y="1504121"/>
                  </a:lnTo>
                  <a:cubicBezTo>
                    <a:pt x="3238250" y="1537681"/>
                    <a:pt x="3209051" y="1608716"/>
                    <a:pt x="3228483" y="1675152"/>
                  </a:cubicBezTo>
                  <a:cubicBezTo>
                    <a:pt x="3244702" y="1762843"/>
                    <a:pt x="3250792" y="1852112"/>
                    <a:pt x="3246631" y="1941200"/>
                  </a:cubicBezTo>
                  <a:cubicBezTo>
                    <a:pt x="3250289" y="2035827"/>
                    <a:pt x="3243923" y="2130588"/>
                    <a:pt x="3227627" y="2223876"/>
                  </a:cubicBezTo>
                  <a:cubicBezTo>
                    <a:pt x="3212168" y="2289590"/>
                    <a:pt x="3243125" y="2357432"/>
                    <a:pt x="3302881" y="2388825"/>
                  </a:cubicBezTo>
                  <a:lnTo>
                    <a:pt x="3527311" y="2510162"/>
                  </a:lnTo>
                  <a:lnTo>
                    <a:pt x="3228578" y="3025345"/>
                  </a:lnTo>
                  <a:lnTo>
                    <a:pt x="2996926" y="2904103"/>
                  </a:lnTo>
                  <a:cubicBezTo>
                    <a:pt x="2974939" y="2892150"/>
                    <a:pt x="2950310" y="2885870"/>
                    <a:pt x="2925283" y="2885860"/>
                  </a:cubicBezTo>
                  <a:cubicBezTo>
                    <a:pt x="2891438" y="2885584"/>
                    <a:pt x="2858457" y="2896549"/>
                    <a:pt x="2831501" y="2917026"/>
                  </a:cubicBezTo>
                  <a:cubicBezTo>
                    <a:pt x="2689184" y="3043797"/>
                    <a:pt x="2521821" y="3139261"/>
                    <a:pt x="2340263" y="3197231"/>
                  </a:cubicBezTo>
                  <a:cubicBezTo>
                    <a:pt x="2276668" y="3214068"/>
                    <a:pt x="2231116" y="3269891"/>
                    <a:pt x="2227382" y="3335576"/>
                  </a:cubicBezTo>
                  <a:lnTo>
                    <a:pt x="2227382" y="3578155"/>
                  </a:lnTo>
                  <a:lnTo>
                    <a:pt x="1621268" y="3578155"/>
                  </a:lnTo>
                  <a:lnTo>
                    <a:pt x="1621268" y="3335956"/>
                  </a:lnTo>
                  <a:cubicBezTo>
                    <a:pt x="1623957" y="3268152"/>
                    <a:pt x="1581389" y="3206780"/>
                    <a:pt x="1516939" y="318554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9" name="Google Shape;1208;p114">
            <a:extLst>
              <a:ext uri="{FF2B5EF4-FFF2-40B4-BE49-F238E27FC236}">
                <a16:creationId xmlns:a16="http://schemas.microsoft.com/office/drawing/2014/main" id="{23F3CA9A-7B32-1F3D-A590-C4AFBB7C234A}"/>
              </a:ext>
            </a:extLst>
          </p:cNvPr>
          <p:cNvSpPr/>
          <p:nvPr/>
        </p:nvSpPr>
        <p:spPr>
          <a:xfrm>
            <a:off x="6310900"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Data Transfer Billing</a:t>
            </a:r>
            <a:endParaRPr b="1"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Cloud service provider (CSP)  charges when data is moved between regions </a:t>
            </a:r>
            <a:br>
              <a:rPr lang="en" sz="1000" dirty="0">
                <a:solidFill>
                  <a:srgbClr val="434343"/>
                </a:solidFill>
                <a:latin typeface="Lato"/>
                <a:ea typeface="Lato"/>
                <a:cs typeface="Lato"/>
                <a:sym typeface="Lato"/>
              </a:rPr>
            </a:br>
            <a:r>
              <a:rPr lang="en" sz="1000" dirty="0">
                <a:solidFill>
                  <a:srgbClr val="434343"/>
                </a:solidFill>
                <a:latin typeface="Lato"/>
                <a:ea typeface="Lato"/>
                <a:cs typeface="Lato"/>
                <a:sym typeface="Lato"/>
              </a:rPr>
              <a:t>and/or clouds</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Pass through cost from your CSP,  paid through Snowflake contract.</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900"/>
              </a:spcAft>
              <a:buNone/>
            </a:pPr>
            <a:endParaRPr sz="1000" dirty="0">
              <a:solidFill>
                <a:srgbClr val="434343"/>
              </a:solidFill>
              <a:latin typeface="Lato"/>
              <a:ea typeface="Lato"/>
              <a:cs typeface="Lato"/>
              <a:sym typeface="Lato"/>
            </a:endParaRPr>
          </a:p>
        </p:txBody>
      </p:sp>
      <p:grpSp>
        <p:nvGrpSpPr>
          <p:cNvPr id="10" name="Google Shape;1209;p114">
            <a:extLst>
              <a:ext uri="{FF2B5EF4-FFF2-40B4-BE49-F238E27FC236}">
                <a16:creationId xmlns:a16="http://schemas.microsoft.com/office/drawing/2014/main" id="{61DF4F76-FBE3-501D-EB75-03769D61F7C1}"/>
              </a:ext>
            </a:extLst>
          </p:cNvPr>
          <p:cNvGrpSpPr/>
          <p:nvPr/>
        </p:nvGrpSpPr>
        <p:grpSpPr>
          <a:xfrm>
            <a:off x="8589522" y="1506364"/>
            <a:ext cx="241569" cy="260125"/>
            <a:chOff x="2142232" y="201699"/>
            <a:chExt cx="273733" cy="294726"/>
          </a:xfrm>
        </p:grpSpPr>
        <p:sp>
          <p:nvSpPr>
            <p:cNvPr id="11" name="Google Shape;1210;p114">
              <a:extLst>
                <a:ext uri="{FF2B5EF4-FFF2-40B4-BE49-F238E27FC236}">
                  <a16:creationId xmlns:a16="http://schemas.microsoft.com/office/drawing/2014/main" id="{C2CC8486-89C5-2566-BCFE-7A23642F728F}"/>
                </a:ext>
              </a:extLst>
            </p:cNvPr>
            <p:cNvSpPr/>
            <p:nvPr/>
          </p:nvSpPr>
          <p:spPr>
            <a:xfrm>
              <a:off x="2142232" y="201699"/>
              <a:ext cx="273733" cy="184355"/>
            </a:xfrm>
            <a:custGeom>
              <a:avLst/>
              <a:gdLst/>
              <a:ahLst/>
              <a:cxnLst/>
              <a:rect l="l" t="t" r="r" b="b"/>
              <a:pathLst>
                <a:path w="273733" h="184355" extrusionOk="0">
                  <a:moveTo>
                    <a:pt x="248002" y="91253"/>
                  </a:moveTo>
                  <a:cubicBezTo>
                    <a:pt x="246666" y="71378"/>
                    <a:pt x="239394" y="52361"/>
                    <a:pt x="227127" y="36666"/>
                  </a:cubicBezTo>
                  <a:cubicBezTo>
                    <a:pt x="213901" y="19638"/>
                    <a:pt x="195321" y="7566"/>
                    <a:pt x="174388" y="2399"/>
                  </a:cubicBezTo>
                  <a:cubicBezTo>
                    <a:pt x="150134" y="-3071"/>
                    <a:pt x="124707" y="892"/>
                    <a:pt x="103268" y="13483"/>
                  </a:cubicBezTo>
                  <a:cubicBezTo>
                    <a:pt x="83761" y="24551"/>
                    <a:pt x="68465" y="41763"/>
                    <a:pt x="59764" y="62435"/>
                  </a:cubicBezTo>
                  <a:cubicBezTo>
                    <a:pt x="47754" y="63128"/>
                    <a:pt x="36174" y="67159"/>
                    <a:pt x="26329" y="74073"/>
                  </a:cubicBezTo>
                  <a:cubicBezTo>
                    <a:pt x="14186" y="82479"/>
                    <a:pt x="5467" y="94968"/>
                    <a:pt x="1760" y="109264"/>
                  </a:cubicBezTo>
                  <a:cubicBezTo>
                    <a:pt x="-1924" y="124239"/>
                    <a:pt x="222" y="140054"/>
                    <a:pt x="7764" y="153506"/>
                  </a:cubicBezTo>
                  <a:cubicBezTo>
                    <a:pt x="15440" y="167178"/>
                    <a:pt x="27861" y="177561"/>
                    <a:pt x="42677" y="182693"/>
                  </a:cubicBezTo>
                  <a:lnTo>
                    <a:pt x="43416" y="182693"/>
                  </a:lnTo>
                  <a:cubicBezTo>
                    <a:pt x="44954" y="183509"/>
                    <a:pt x="46663" y="183953"/>
                    <a:pt x="48404" y="183986"/>
                  </a:cubicBezTo>
                  <a:lnTo>
                    <a:pt x="68262" y="183986"/>
                  </a:lnTo>
                  <a:cubicBezTo>
                    <a:pt x="74638" y="183986"/>
                    <a:pt x="79807" y="178817"/>
                    <a:pt x="79807" y="172440"/>
                  </a:cubicBezTo>
                  <a:cubicBezTo>
                    <a:pt x="79807" y="166064"/>
                    <a:pt x="74638" y="160895"/>
                    <a:pt x="68262" y="160895"/>
                  </a:cubicBezTo>
                  <a:lnTo>
                    <a:pt x="49143" y="160895"/>
                  </a:lnTo>
                  <a:cubicBezTo>
                    <a:pt x="30304" y="154043"/>
                    <a:pt x="19473" y="134279"/>
                    <a:pt x="23835" y="114713"/>
                  </a:cubicBezTo>
                  <a:cubicBezTo>
                    <a:pt x="29238" y="95792"/>
                    <a:pt x="47267" y="83334"/>
                    <a:pt x="66876" y="84972"/>
                  </a:cubicBezTo>
                  <a:cubicBezTo>
                    <a:pt x="72150" y="85372"/>
                    <a:pt x="77022" y="82137"/>
                    <a:pt x="78699" y="77121"/>
                  </a:cubicBezTo>
                  <a:cubicBezTo>
                    <a:pt x="84648" y="58262"/>
                    <a:pt x="97518" y="42356"/>
                    <a:pt x="114721" y="32602"/>
                  </a:cubicBezTo>
                  <a:cubicBezTo>
                    <a:pt x="146142" y="13682"/>
                    <a:pt x="186759" y="21352"/>
                    <a:pt x="209116" y="50428"/>
                  </a:cubicBezTo>
                  <a:cubicBezTo>
                    <a:pt x="219662" y="64154"/>
                    <a:pt x="225406" y="80964"/>
                    <a:pt x="225465" y="98272"/>
                  </a:cubicBezTo>
                  <a:cubicBezTo>
                    <a:pt x="225522" y="102515"/>
                    <a:pt x="227997" y="106352"/>
                    <a:pt x="231838" y="108155"/>
                  </a:cubicBezTo>
                  <a:cubicBezTo>
                    <a:pt x="243295" y="112592"/>
                    <a:pt x="250876" y="123579"/>
                    <a:pt x="250957" y="135864"/>
                  </a:cubicBezTo>
                  <a:cubicBezTo>
                    <a:pt x="249305" y="147602"/>
                    <a:pt x="241203" y="157418"/>
                    <a:pt x="229991" y="161264"/>
                  </a:cubicBezTo>
                  <a:lnTo>
                    <a:pt x="205052" y="161264"/>
                  </a:lnTo>
                  <a:cubicBezTo>
                    <a:pt x="198676" y="161264"/>
                    <a:pt x="193507" y="166433"/>
                    <a:pt x="193507" y="172810"/>
                  </a:cubicBezTo>
                  <a:cubicBezTo>
                    <a:pt x="193507" y="179187"/>
                    <a:pt x="198676" y="184355"/>
                    <a:pt x="205052" y="184355"/>
                  </a:cubicBezTo>
                  <a:lnTo>
                    <a:pt x="231099" y="184355"/>
                  </a:lnTo>
                  <a:cubicBezTo>
                    <a:pt x="233013" y="184261"/>
                    <a:pt x="234878" y="183724"/>
                    <a:pt x="236548" y="182785"/>
                  </a:cubicBezTo>
                  <a:lnTo>
                    <a:pt x="237472" y="182785"/>
                  </a:lnTo>
                  <a:cubicBezTo>
                    <a:pt x="257379" y="176007"/>
                    <a:pt x="271518" y="158260"/>
                    <a:pt x="273679" y="137342"/>
                  </a:cubicBezTo>
                  <a:cubicBezTo>
                    <a:pt x="274566" y="118350"/>
                    <a:pt x="264619" y="100493"/>
                    <a:pt x="248002" y="9125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12" name="Google Shape;1211;p114">
              <a:extLst>
                <a:ext uri="{FF2B5EF4-FFF2-40B4-BE49-F238E27FC236}">
                  <a16:creationId xmlns:a16="http://schemas.microsoft.com/office/drawing/2014/main" id="{C6502FED-9913-5A55-B4C9-69B19FB9B14F}"/>
                </a:ext>
              </a:extLst>
            </p:cNvPr>
            <p:cNvSpPr/>
            <p:nvPr/>
          </p:nvSpPr>
          <p:spPr>
            <a:xfrm>
              <a:off x="2165534" y="320290"/>
              <a:ext cx="226734" cy="176135"/>
            </a:xfrm>
            <a:custGeom>
              <a:avLst/>
              <a:gdLst/>
              <a:ahLst/>
              <a:cxnLst/>
              <a:rect l="l" t="t" r="r" b="b"/>
              <a:pathLst>
                <a:path w="226734" h="176135" extrusionOk="0">
                  <a:moveTo>
                    <a:pt x="199023" y="76940"/>
                  </a:moveTo>
                  <a:cubicBezTo>
                    <a:pt x="187241" y="76895"/>
                    <a:pt x="176719" y="84305"/>
                    <a:pt x="172791" y="95413"/>
                  </a:cubicBezTo>
                  <a:lnTo>
                    <a:pt x="156535" y="95413"/>
                  </a:lnTo>
                  <a:lnTo>
                    <a:pt x="157644" y="11362"/>
                  </a:lnTo>
                  <a:lnTo>
                    <a:pt x="157644" y="11362"/>
                  </a:lnTo>
                  <a:cubicBezTo>
                    <a:pt x="157542" y="4986"/>
                    <a:pt x="152292" y="-100"/>
                    <a:pt x="145916" y="1"/>
                  </a:cubicBezTo>
                  <a:cubicBezTo>
                    <a:pt x="145915" y="1"/>
                    <a:pt x="145914" y="1"/>
                    <a:pt x="145914" y="1"/>
                  </a:cubicBezTo>
                  <a:lnTo>
                    <a:pt x="83476" y="1"/>
                  </a:lnTo>
                  <a:cubicBezTo>
                    <a:pt x="77136" y="52"/>
                    <a:pt x="72023" y="5206"/>
                    <a:pt x="72023" y="11547"/>
                  </a:cubicBezTo>
                  <a:lnTo>
                    <a:pt x="71007" y="95228"/>
                  </a:lnTo>
                  <a:lnTo>
                    <a:pt x="53550" y="95228"/>
                  </a:lnTo>
                  <a:cubicBezTo>
                    <a:pt x="48015" y="80961"/>
                    <a:pt x="31962" y="73881"/>
                    <a:pt x="17695" y="79417"/>
                  </a:cubicBezTo>
                  <a:cubicBezTo>
                    <a:pt x="3428" y="84951"/>
                    <a:pt x="-3652" y="101004"/>
                    <a:pt x="1883" y="115271"/>
                  </a:cubicBezTo>
                  <a:cubicBezTo>
                    <a:pt x="7418" y="129539"/>
                    <a:pt x="23471" y="136618"/>
                    <a:pt x="37738" y="131083"/>
                  </a:cubicBezTo>
                  <a:cubicBezTo>
                    <a:pt x="44996" y="128268"/>
                    <a:pt x="50734" y="122529"/>
                    <a:pt x="53550" y="115271"/>
                  </a:cubicBezTo>
                  <a:lnTo>
                    <a:pt x="81259" y="115271"/>
                  </a:lnTo>
                  <a:cubicBezTo>
                    <a:pt x="86203" y="114835"/>
                    <a:pt x="90108" y="110891"/>
                    <a:pt x="90495" y="105943"/>
                  </a:cubicBezTo>
                  <a:lnTo>
                    <a:pt x="91419" y="22815"/>
                  </a:lnTo>
                  <a:lnTo>
                    <a:pt x="104442" y="22815"/>
                  </a:lnTo>
                  <a:lnTo>
                    <a:pt x="104442" y="122568"/>
                  </a:lnTo>
                  <a:cubicBezTo>
                    <a:pt x="90165" y="128078"/>
                    <a:pt x="83057" y="144117"/>
                    <a:pt x="88566" y="158395"/>
                  </a:cubicBezTo>
                  <a:cubicBezTo>
                    <a:pt x="94075" y="172672"/>
                    <a:pt x="110115" y="179780"/>
                    <a:pt x="124393" y="174270"/>
                  </a:cubicBezTo>
                  <a:cubicBezTo>
                    <a:pt x="138670" y="168761"/>
                    <a:pt x="145778" y="152721"/>
                    <a:pt x="140269" y="138444"/>
                  </a:cubicBezTo>
                  <a:cubicBezTo>
                    <a:pt x="137454" y="131149"/>
                    <a:pt x="131688" y="125383"/>
                    <a:pt x="124393" y="122568"/>
                  </a:cubicBezTo>
                  <a:lnTo>
                    <a:pt x="124393" y="23092"/>
                  </a:lnTo>
                  <a:lnTo>
                    <a:pt x="136954" y="23092"/>
                  </a:lnTo>
                  <a:lnTo>
                    <a:pt x="136677" y="105481"/>
                  </a:lnTo>
                  <a:cubicBezTo>
                    <a:pt x="136652" y="108165"/>
                    <a:pt x="137680" y="110751"/>
                    <a:pt x="139540" y="112685"/>
                  </a:cubicBezTo>
                  <a:cubicBezTo>
                    <a:pt x="141433" y="114630"/>
                    <a:pt x="144030" y="115729"/>
                    <a:pt x="146745" y="115733"/>
                  </a:cubicBezTo>
                  <a:lnTo>
                    <a:pt x="173623" y="115733"/>
                  </a:lnTo>
                  <a:cubicBezTo>
                    <a:pt x="179744" y="129759"/>
                    <a:pt x="196076" y="136167"/>
                    <a:pt x="210102" y="130045"/>
                  </a:cubicBezTo>
                  <a:cubicBezTo>
                    <a:pt x="224128" y="123924"/>
                    <a:pt x="230535" y="107591"/>
                    <a:pt x="224414" y="93566"/>
                  </a:cubicBezTo>
                  <a:cubicBezTo>
                    <a:pt x="220008" y="83470"/>
                    <a:pt x="210039" y="76942"/>
                    <a:pt x="199023" y="76940"/>
                  </a:cubicBezTo>
                  <a:close/>
                  <a:moveTo>
                    <a:pt x="28150" y="113424"/>
                  </a:moveTo>
                  <a:cubicBezTo>
                    <a:pt x="23865" y="113424"/>
                    <a:pt x="20391" y="109950"/>
                    <a:pt x="20391" y="105665"/>
                  </a:cubicBezTo>
                  <a:cubicBezTo>
                    <a:pt x="20391" y="101381"/>
                    <a:pt x="23865" y="97907"/>
                    <a:pt x="28150" y="97907"/>
                  </a:cubicBezTo>
                  <a:cubicBezTo>
                    <a:pt x="32435" y="97907"/>
                    <a:pt x="35908" y="101381"/>
                    <a:pt x="35908" y="105665"/>
                  </a:cubicBezTo>
                  <a:cubicBezTo>
                    <a:pt x="35908" y="109950"/>
                    <a:pt x="32435" y="113424"/>
                    <a:pt x="28150" y="113424"/>
                  </a:cubicBezTo>
                  <a:close/>
                  <a:moveTo>
                    <a:pt x="114787" y="156373"/>
                  </a:moveTo>
                  <a:cubicBezTo>
                    <a:pt x="110502" y="156373"/>
                    <a:pt x="107028" y="152899"/>
                    <a:pt x="107028" y="148615"/>
                  </a:cubicBezTo>
                  <a:cubicBezTo>
                    <a:pt x="107028" y="144330"/>
                    <a:pt x="110502" y="140856"/>
                    <a:pt x="114787" y="140856"/>
                  </a:cubicBezTo>
                  <a:cubicBezTo>
                    <a:pt x="119072" y="140856"/>
                    <a:pt x="122546" y="144330"/>
                    <a:pt x="122546" y="148615"/>
                  </a:cubicBezTo>
                  <a:cubicBezTo>
                    <a:pt x="122496" y="152879"/>
                    <a:pt x="119051" y="156323"/>
                    <a:pt x="114787" y="156373"/>
                  </a:cubicBezTo>
                  <a:close/>
                  <a:moveTo>
                    <a:pt x="199023" y="112408"/>
                  </a:moveTo>
                  <a:cubicBezTo>
                    <a:pt x="194738" y="112408"/>
                    <a:pt x="191264" y="108934"/>
                    <a:pt x="191264" y="104649"/>
                  </a:cubicBezTo>
                  <a:cubicBezTo>
                    <a:pt x="191264" y="100365"/>
                    <a:pt x="194738" y="96891"/>
                    <a:pt x="199023" y="96891"/>
                  </a:cubicBezTo>
                  <a:cubicBezTo>
                    <a:pt x="203307" y="96891"/>
                    <a:pt x="206781" y="100365"/>
                    <a:pt x="206781" y="104649"/>
                  </a:cubicBezTo>
                  <a:cubicBezTo>
                    <a:pt x="206781" y="108934"/>
                    <a:pt x="203307" y="112408"/>
                    <a:pt x="199023" y="112408"/>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13" name="Google Shape;1212;p114">
            <a:extLst>
              <a:ext uri="{FF2B5EF4-FFF2-40B4-BE49-F238E27FC236}">
                <a16:creationId xmlns:a16="http://schemas.microsoft.com/office/drawing/2014/main" id="{B4CD7E31-074F-7B0B-3B2D-CCC7C6C3F53F}"/>
              </a:ext>
            </a:extLst>
          </p:cNvPr>
          <p:cNvGrpSpPr/>
          <p:nvPr/>
        </p:nvGrpSpPr>
        <p:grpSpPr>
          <a:xfrm>
            <a:off x="5443610" y="1493166"/>
            <a:ext cx="241579" cy="262848"/>
            <a:chOff x="4464050" y="2451067"/>
            <a:chExt cx="220499" cy="241389"/>
          </a:xfrm>
        </p:grpSpPr>
        <p:sp>
          <p:nvSpPr>
            <p:cNvPr id="14" name="Google Shape;1213;p114">
              <a:extLst>
                <a:ext uri="{FF2B5EF4-FFF2-40B4-BE49-F238E27FC236}">
                  <a16:creationId xmlns:a16="http://schemas.microsoft.com/office/drawing/2014/main" id="{F382FB79-F66B-57B1-6315-F0385C28E63C}"/>
                </a:ext>
              </a:extLst>
            </p:cNvPr>
            <p:cNvSpPr/>
            <p:nvPr/>
          </p:nvSpPr>
          <p:spPr>
            <a:xfrm>
              <a:off x="4464050" y="2451067"/>
              <a:ext cx="220499" cy="241389"/>
            </a:xfrm>
            <a:custGeom>
              <a:avLst/>
              <a:gdLst/>
              <a:ahLst/>
              <a:cxnLst/>
              <a:rect l="l" t="t" r="r" b="b"/>
              <a:pathLst>
                <a:path w="220499" h="241389" extrusionOk="0">
                  <a:moveTo>
                    <a:pt x="220500" y="49499"/>
                  </a:moveTo>
                  <a:cubicBezTo>
                    <a:pt x="220500" y="35299"/>
                    <a:pt x="208109" y="22492"/>
                    <a:pt x="186143" y="13211"/>
                  </a:cubicBezTo>
                  <a:cubicBezTo>
                    <a:pt x="161918" y="4047"/>
                    <a:pt x="136136" y="-427"/>
                    <a:pt x="110203" y="32"/>
                  </a:cubicBezTo>
                  <a:cubicBezTo>
                    <a:pt x="84300" y="-420"/>
                    <a:pt x="58551" y="4054"/>
                    <a:pt x="34356" y="13211"/>
                  </a:cubicBezTo>
                  <a:cubicBezTo>
                    <a:pt x="12297" y="22492"/>
                    <a:pt x="0" y="35299"/>
                    <a:pt x="0" y="49499"/>
                  </a:cubicBezTo>
                  <a:lnTo>
                    <a:pt x="0" y="190752"/>
                  </a:lnTo>
                  <a:lnTo>
                    <a:pt x="0" y="190752"/>
                  </a:lnTo>
                  <a:cubicBezTo>
                    <a:pt x="0" y="205601"/>
                    <a:pt x="12203" y="218594"/>
                    <a:pt x="34262" y="228339"/>
                  </a:cubicBezTo>
                  <a:cubicBezTo>
                    <a:pt x="58472" y="237540"/>
                    <a:pt x="84273" y="241954"/>
                    <a:pt x="110203" y="241332"/>
                  </a:cubicBezTo>
                  <a:cubicBezTo>
                    <a:pt x="136189" y="241845"/>
                    <a:pt x="162023" y="237305"/>
                    <a:pt x="186237" y="227968"/>
                  </a:cubicBezTo>
                  <a:cubicBezTo>
                    <a:pt x="208297" y="218687"/>
                    <a:pt x="220500" y="205137"/>
                    <a:pt x="220500" y="190381"/>
                  </a:cubicBezTo>
                  <a:lnTo>
                    <a:pt x="220500" y="49499"/>
                  </a:lnTo>
                  <a:close/>
                  <a:moveTo>
                    <a:pt x="207639" y="147689"/>
                  </a:moveTo>
                  <a:cubicBezTo>
                    <a:pt x="207639" y="155392"/>
                    <a:pt x="197783" y="163838"/>
                    <a:pt x="181356" y="170149"/>
                  </a:cubicBezTo>
                  <a:cubicBezTo>
                    <a:pt x="158519" y="178121"/>
                    <a:pt x="134417" y="181956"/>
                    <a:pt x="110203" y="181471"/>
                  </a:cubicBezTo>
                  <a:cubicBezTo>
                    <a:pt x="86021" y="181949"/>
                    <a:pt x="61949" y="178113"/>
                    <a:pt x="39144" y="170149"/>
                  </a:cubicBezTo>
                  <a:cubicBezTo>
                    <a:pt x="22716" y="163838"/>
                    <a:pt x="12860" y="155392"/>
                    <a:pt x="12860" y="147689"/>
                  </a:cubicBezTo>
                  <a:lnTo>
                    <a:pt x="12860" y="122631"/>
                  </a:lnTo>
                  <a:cubicBezTo>
                    <a:pt x="19456" y="127555"/>
                    <a:pt x="26766" y="131467"/>
                    <a:pt x="34544" y="134232"/>
                  </a:cubicBezTo>
                  <a:cubicBezTo>
                    <a:pt x="58866" y="142541"/>
                    <a:pt x="84474" y="146561"/>
                    <a:pt x="110203" y="146111"/>
                  </a:cubicBezTo>
                  <a:cubicBezTo>
                    <a:pt x="135962" y="146561"/>
                    <a:pt x="161601" y="142540"/>
                    <a:pt x="185956" y="134232"/>
                  </a:cubicBezTo>
                  <a:cubicBezTo>
                    <a:pt x="193734" y="131467"/>
                    <a:pt x="201044" y="127555"/>
                    <a:pt x="207639" y="122631"/>
                  </a:cubicBezTo>
                  <a:close/>
                  <a:moveTo>
                    <a:pt x="207639" y="100264"/>
                  </a:moveTo>
                  <a:cubicBezTo>
                    <a:pt x="207639" y="107875"/>
                    <a:pt x="197783" y="116134"/>
                    <a:pt x="181356" y="122353"/>
                  </a:cubicBezTo>
                  <a:cubicBezTo>
                    <a:pt x="158463" y="130069"/>
                    <a:pt x="134385" y="133774"/>
                    <a:pt x="110203" y="133304"/>
                  </a:cubicBezTo>
                  <a:cubicBezTo>
                    <a:pt x="52849" y="133304"/>
                    <a:pt x="12860" y="115856"/>
                    <a:pt x="12860" y="100264"/>
                  </a:cubicBezTo>
                  <a:lnTo>
                    <a:pt x="12860" y="74278"/>
                  </a:lnTo>
                  <a:cubicBezTo>
                    <a:pt x="19361" y="79361"/>
                    <a:pt x="26610" y="83430"/>
                    <a:pt x="34356" y="86343"/>
                  </a:cubicBezTo>
                  <a:cubicBezTo>
                    <a:pt x="58532" y="95577"/>
                    <a:pt x="84290" y="100083"/>
                    <a:pt x="110203" y="99615"/>
                  </a:cubicBezTo>
                  <a:cubicBezTo>
                    <a:pt x="136147" y="100094"/>
                    <a:pt x="161937" y="95586"/>
                    <a:pt x="186143" y="86343"/>
                  </a:cubicBezTo>
                  <a:cubicBezTo>
                    <a:pt x="193889" y="83430"/>
                    <a:pt x="201139" y="79361"/>
                    <a:pt x="207639" y="74278"/>
                  </a:cubicBezTo>
                  <a:close/>
                  <a:moveTo>
                    <a:pt x="39331" y="24997"/>
                  </a:moveTo>
                  <a:cubicBezTo>
                    <a:pt x="61935" y="16435"/>
                    <a:pt x="86001" y="12275"/>
                    <a:pt x="110203" y="12747"/>
                  </a:cubicBezTo>
                  <a:cubicBezTo>
                    <a:pt x="167651" y="12747"/>
                    <a:pt x="207639" y="32329"/>
                    <a:pt x="207639" y="49870"/>
                  </a:cubicBezTo>
                  <a:cubicBezTo>
                    <a:pt x="207639" y="58687"/>
                    <a:pt x="198253" y="67689"/>
                    <a:pt x="181168" y="74742"/>
                  </a:cubicBezTo>
                  <a:cubicBezTo>
                    <a:pt x="158534" y="83317"/>
                    <a:pt x="134436" y="87477"/>
                    <a:pt x="110203" y="86993"/>
                  </a:cubicBezTo>
                  <a:cubicBezTo>
                    <a:pt x="52849" y="86993"/>
                    <a:pt x="12860" y="67410"/>
                    <a:pt x="12860" y="49870"/>
                  </a:cubicBezTo>
                  <a:cubicBezTo>
                    <a:pt x="12860" y="41053"/>
                    <a:pt x="22529" y="32051"/>
                    <a:pt x="39331" y="24997"/>
                  </a:cubicBezTo>
                  <a:close/>
                  <a:moveTo>
                    <a:pt x="110203" y="229174"/>
                  </a:moveTo>
                  <a:cubicBezTo>
                    <a:pt x="52004" y="229174"/>
                    <a:pt x="12860" y="209406"/>
                    <a:pt x="12860" y="190937"/>
                  </a:cubicBezTo>
                  <a:lnTo>
                    <a:pt x="12860" y="170241"/>
                  </a:lnTo>
                  <a:cubicBezTo>
                    <a:pt x="19435" y="175194"/>
                    <a:pt x="26709" y="179165"/>
                    <a:pt x="34450" y="182028"/>
                  </a:cubicBezTo>
                  <a:cubicBezTo>
                    <a:pt x="58757" y="190549"/>
                    <a:pt x="84418" y="194666"/>
                    <a:pt x="110203" y="194186"/>
                  </a:cubicBezTo>
                  <a:cubicBezTo>
                    <a:pt x="136019" y="194674"/>
                    <a:pt x="161712" y="190555"/>
                    <a:pt x="186049" y="182028"/>
                  </a:cubicBezTo>
                  <a:cubicBezTo>
                    <a:pt x="193791" y="179165"/>
                    <a:pt x="201065" y="175194"/>
                    <a:pt x="207639" y="170241"/>
                  </a:cubicBezTo>
                  <a:lnTo>
                    <a:pt x="207639" y="190752"/>
                  </a:lnTo>
                  <a:cubicBezTo>
                    <a:pt x="207639" y="209221"/>
                    <a:pt x="168965" y="228989"/>
                    <a:pt x="110203" y="228989"/>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15" name="Google Shape;1214;p114">
              <a:extLst>
                <a:ext uri="{FF2B5EF4-FFF2-40B4-BE49-F238E27FC236}">
                  <a16:creationId xmlns:a16="http://schemas.microsoft.com/office/drawing/2014/main" id="{70041B7D-1C91-6E52-E21A-C736A73173B2}"/>
                </a:ext>
              </a:extLst>
            </p:cNvPr>
            <p:cNvSpPr/>
            <p:nvPr/>
          </p:nvSpPr>
          <p:spPr>
            <a:xfrm>
              <a:off x="4510699" y="2475972"/>
              <a:ext cx="127158" cy="47981"/>
            </a:xfrm>
            <a:custGeom>
              <a:avLst/>
              <a:gdLst/>
              <a:ahLst/>
              <a:cxnLst/>
              <a:rect l="l" t="t" r="r" b="b"/>
              <a:pathLst>
                <a:path w="127158" h="47981" extrusionOk="0">
                  <a:moveTo>
                    <a:pt x="111614" y="40650"/>
                  </a:moveTo>
                  <a:cubicBezTo>
                    <a:pt x="108342" y="42199"/>
                    <a:pt x="104632" y="42592"/>
                    <a:pt x="101101" y="41763"/>
                  </a:cubicBezTo>
                  <a:lnTo>
                    <a:pt x="86082" y="38515"/>
                  </a:lnTo>
                  <a:lnTo>
                    <a:pt x="86082" y="45012"/>
                  </a:lnTo>
                  <a:cubicBezTo>
                    <a:pt x="86082" y="46497"/>
                    <a:pt x="82515" y="47982"/>
                    <a:pt x="78009" y="47982"/>
                  </a:cubicBezTo>
                  <a:cubicBezTo>
                    <a:pt x="73503" y="47982"/>
                    <a:pt x="69936" y="46682"/>
                    <a:pt x="69936" y="45012"/>
                  </a:cubicBezTo>
                  <a:lnTo>
                    <a:pt x="69936" y="33318"/>
                  </a:lnTo>
                  <a:cubicBezTo>
                    <a:pt x="69936" y="31740"/>
                    <a:pt x="73034" y="30441"/>
                    <a:pt x="77540" y="30255"/>
                  </a:cubicBezTo>
                  <a:cubicBezTo>
                    <a:pt x="79040" y="30163"/>
                    <a:pt x="80546" y="30163"/>
                    <a:pt x="82046" y="30255"/>
                  </a:cubicBezTo>
                  <a:lnTo>
                    <a:pt x="108611" y="36102"/>
                  </a:lnTo>
                  <a:cubicBezTo>
                    <a:pt x="112929" y="37402"/>
                    <a:pt x="114149" y="39165"/>
                    <a:pt x="111614" y="40650"/>
                  </a:cubicBezTo>
                  <a:close/>
                  <a:moveTo>
                    <a:pt x="68998" y="23852"/>
                  </a:moveTo>
                  <a:cubicBezTo>
                    <a:pt x="68998" y="23852"/>
                    <a:pt x="68434" y="23852"/>
                    <a:pt x="67965" y="24408"/>
                  </a:cubicBezTo>
                  <a:lnTo>
                    <a:pt x="64961" y="25708"/>
                  </a:lnTo>
                  <a:lnTo>
                    <a:pt x="63459" y="25708"/>
                  </a:lnTo>
                  <a:lnTo>
                    <a:pt x="61957" y="25708"/>
                  </a:lnTo>
                  <a:lnTo>
                    <a:pt x="58954" y="24408"/>
                  </a:lnTo>
                  <a:cubicBezTo>
                    <a:pt x="58484" y="24408"/>
                    <a:pt x="58484" y="24408"/>
                    <a:pt x="58484" y="23852"/>
                  </a:cubicBezTo>
                  <a:cubicBezTo>
                    <a:pt x="58484" y="23295"/>
                    <a:pt x="58484" y="23852"/>
                    <a:pt x="58954" y="23295"/>
                  </a:cubicBezTo>
                  <a:lnTo>
                    <a:pt x="61957" y="22181"/>
                  </a:lnTo>
                  <a:cubicBezTo>
                    <a:pt x="62943" y="21934"/>
                    <a:pt x="63976" y="21934"/>
                    <a:pt x="64961" y="22181"/>
                  </a:cubicBezTo>
                  <a:lnTo>
                    <a:pt x="67965" y="23295"/>
                  </a:lnTo>
                  <a:cubicBezTo>
                    <a:pt x="67965" y="23295"/>
                    <a:pt x="68998" y="23666"/>
                    <a:pt x="68998" y="23852"/>
                  </a:cubicBezTo>
                  <a:close/>
                  <a:moveTo>
                    <a:pt x="78385" y="24594"/>
                  </a:moveTo>
                  <a:lnTo>
                    <a:pt x="78385" y="23295"/>
                  </a:lnTo>
                  <a:cubicBezTo>
                    <a:pt x="78385" y="23295"/>
                    <a:pt x="77915" y="23295"/>
                    <a:pt x="77915" y="22738"/>
                  </a:cubicBezTo>
                  <a:lnTo>
                    <a:pt x="66369" y="18562"/>
                  </a:lnTo>
                  <a:lnTo>
                    <a:pt x="65337" y="18562"/>
                  </a:lnTo>
                  <a:lnTo>
                    <a:pt x="61864" y="18562"/>
                  </a:lnTo>
                  <a:cubicBezTo>
                    <a:pt x="61367" y="18471"/>
                    <a:pt x="60858" y="18471"/>
                    <a:pt x="60362" y="18562"/>
                  </a:cubicBezTo>
                  <a:lnTo>
                    <a:pt x="49285" y="22738"/>
                  </a:lnTo>
                  <a:cubicBezTo>
                    <a:pt x="48816" y="22738"/>
                    <a:pt x="48816" y="22738"/>
                    <a:pt x="48816" y="23295"/>
                  </a:cubicBezTo>
                  <a:lnTo>
                    <a:pt x="48816" y="24594"/>
                  </a:lnTo>
                  <a:cubicBezTo>
                    <a:pt x="48816" y="24594"/>
                    <a:pt x="48816" y="24594"/>
                    <a:pt x="49285" y="25151"/>
                  </a:cubicBezTo>
                  <a:lnTo>
                    <a:pt x="60362" y="29327"/>
                  </a:lnTo>
                  <a:lnTo>
                    <a:pt x="61864" y="29327"/>
                  </a:lnTo>
                  <a:lnTo>
                    <a:pt x="65337" y="29327"/>
                  </a:lnTo>
                  <a:lnTo>
                    <a:pt x="66369" y="29327"/>
                  </a:lnTo>
                  <a:lnTo>
                    <a:pt x="77915" y="25151"/>
                  </a:lnTo>
                  <a:cubicBezTo>
                    <a:pt x="77915" y="25151"/>
                    <a:pt x="78479" y="24780"/>
                    <a:pt x="78479" y="24594"/>
                  </a:cubicBezTo>
                  <a:close/>
                  <a:moveTo>
                    <a:pt x="38772" y="26636"/>
                  </a:moveTo>
                  <a:lnTo>
                    <a:pt x="11643" y="32483"/>
                  </a:lnTo>
                  <a:cubicBezTo>
                    <a:pt x="8138" y="33194"/>
                    <a:pt x="4495" y="32804"/>
                    <a:pt x="1224" y="31369"/>
                  </a:cubicBezTo>
                  <a:cubicBezTo>
                    <a:pt x="-1311" y="29884"/>
                    <a:pt x="285" y="28028"/>
                    <a:pt x="4228" y="27285"/>
                  </a:cubicBezTo>
                  <a:lnTo>
                    <a:pt x="19059" y="24037"/>
                  </a:lnTo>
                  <a:lnTo>
                    <a:pt x="4228" y="20789"/>
                  </a:lnTo>
                  <a:cubicBezTo>
                    <a:pt x="285" y="19861"/>
                    <a:pt x="-1311" y="18005"/>
                    <a:pt x="1224" y="16520"/>
                  </a:cubicBezTo>
                  <a:cubicBezTo>
                    <a:pt x="4523" y="15065"/>
                    <a:pt x="8202" y="14675"/>
                    <a:pt x="11737" y="15406"/>
                  </a:cubicBezTo>
                  <a:lnTo>
                    <a:pt x="38866" y="21531"/>
                  </a:lnTo>
                  <a:cubicBezTo>
                    <a:pt x="40233" y="21650"/>
                    <a:pt x="41490" y="22322"/>
                    <a:pt x="42339" y="23388"/>
                  </a:cubicBezTo>
                  <a:cubicBezTo>
                    <a:pt x="42698" y="23435"/>
                    <a:pt x="42952" y="23761"/>
                    <a:pt x="42904" y="24117"/>
                  </a:cubicBezTo>
                  <a:cubicBezTo>
                    <a:pt x="42903" y="24121"/>
                    <a:pt x="42903" y="24126"/>
                    <a:pt x="42902" y="24130"/>
                  </a:cubicBezTo>
                  <a:cubicBezTo>
                    <a:pt x="42902" y="24130"/>
                    <a:pt x="42902" y="24687"/>
                    <a:pt x="42339" y="25058"/>
                  </a:cubicBezTo>
                  <a:cubicBezTo>
                    <a:pt x="41776" y="25429"/>
                    <a:pt x="40837" y="26079"/>
                    <a:pt x="38866" y="26636"/>
                  </a:cubicBezTo>
                  <a:close/>
                  <a:moveTo>
                    <a:pt x="57546" y="33132"/>
                  </a:moveTo>
                  <a:lnTo>
                    <a:pt x="57546" y="44826"/>
                  </a:lnTo>
                  <a:cubicBezTo>
                    <a:pt x="57546" y="46497"/>
                    <a:pt x="53509" y="47796"/>
                    <a:pt x="49473" y="47796"/>
                  </a:cubicBezTo>
                  <a:cubicBezTo>
                    <a:pt x="45436" y="47796"/>
                    <a:pt x="41494" y="46497"/>
                    <a:pt x="41494" y="44826"/>
                  </a:cubicBezTo>
                  <a:lnTo>
                    <a:pt x="41494" y="38330"/>
                  </a:lnTo>
                  <a:lnTo>
                    <a:pt x="26381" y="41578"/>
                  </a:lnTo>
                  <a:cubicBezTo>
                    <a:pt x="22629" y="42437"/>
                    <a:pt x="18689" y="41908"/>
                    <a:pt x="15304" y="40093"/>
                  </a:cubicBezTo>
                  <a:cubicBezTo>
                    <a:pt x="13239" y="38794"/>
                    <a:pt x="14272" y="37030"/>
                    <a:pt x="18308" y="36102"/>
                  </a:cubicBezTo>
                  <a:lnTo>
                    <a:pt x="45436" y="30812"/>
                  </a:lnTo>
                  <a:cubicBezTo>
                    <a:pt x="46936" y="30696"/>
                    <a:pt x="48442" y="30696"/>
                    <a:pt x="49942" y="30812"/>
                  </a:cubicBezTo>
                  <a:cubicBezTo>
                    <a:pt x="53885" y="30812"/>
                    <a:pt x="56607" y="31740"/>
                    <a:pt x="57452" y="33132"/>
                  </a:cubicBezTo>
                  <a:close/>
                  <a:moveTo>
                    <a:pt x="70030" y="14571"/>
                  </a:moveTo>
                  <a:lnTo>
                    <a:pt x="70030" y="2970"/>
                  </a:lnTo>
                  <a:cubicBezTo>
                    <a:pt x="70030" y="1299"/>
                    <a:pt x="73597" y="0"/>
                    <a:pt x="78103" y="0"/>
                  </a:cubicBezTo>
                  <a:cubicBezTo>
                    <a:pt x="82609" y="0"/>
                    <a:pt x="86176" y="1299"/>
                    <a:pt x="86176" y="2970"/>
                  </a:cubicBezTo>
                  <a:lnTo>
                    <a:pt x="86176" y="9466"/>
                  </a:lnTo>
                  <a:lnTo>
                    <a:pt x="101195" y="6125"/>
                  </a:lnTo>
                  <a:cubicBezTo>
                    <a:pt x="104730" y="5388"/>
                    <a:pt x="108411" y="5778"/>
                    <a:pt x="111708" y="7239"/>
                  </a:cubicBezTo>
                  <a:cubicBezTo>
                    <a:pt x="114243" y="8724"/>
                    <a:pt x="112741" y="10487"/>
                    <a:pt x="108705" y="11415"/>
                  </a:cubicBezTo>
                  <a:lnTo>
                    <a:pt x="82139" y="17262"/>
                  </a:lnTo>
                  <a:cubicBezTo>
                    <a:pt x="80639" y="17354"/>
                    <a:pt x="79134" y="17354"/>
                    <a:pt x="77634" y="17262"/>
                  </a:cubicBezTo>
                  <a:cubicBezTo>
                    <a:pt x="73034" y="17448"/>
                    <a:pt x="69936" y="16149"/>
                    <a:pt x="69936" y="14571"/>
                  </a:cubicBezTo>
                  <a:close/>
                  <a:moveTo>
                    <a:pt x="15304" y="7239"/>
                  </a:moveTo>
                  <a:cubicBezTo>
                    <a:pt x="18736" y="5662"/>
                    <a:pt x="22603" y="5270"/>
                    <a:pt x="26287" y="6125"/>
                  </a:cubicBezTo>
                  <a:lnTo>
                    <a:pt x="41400" y="9466"/>
                  </a:lnTo>
                  <a:lnTo>
                    <a:pt x="41400" y="2970"/>
                  </a:lnTo>
                  <a:cubicBezTo>
                    <a:pt x="41400" y="1299"/>
                    <a:pt x="44873" y="0"/>
                    <a:pt x="49379" y="0"/>
                  </a:cubicBezTo>
                  <a:cubicBezTo>
                    <a:pt x="53885" y="0"/>
                    <a:pt x="56889" y="1299"/>
                    <a:pt x="56889" y="2970"/>
                  </a:cubicBezTo>
                  <a:lnTo>
                    <a:pt x="56889" y="14571"/>
                  </a:lnTo>
                  <a:cubicBezTo>
                    <a:pt x="56889" y="16149"/>
                    <a:pt x="53885" y="17448"/>
                    <a:pt x="49942" y="17448"/>
                  </a:cubicBezTo>
                  <a:cubicBezTo>
                    <a:pt x="48453" y="17724"/>
                    <a:pt x="46925" y="17724"/>
                    <a:pt x="45436" y="17448"/>
                  </a:cubicBezTo>
                  <a:lnTo>
                    <a:pt x="18308" y="11230"/>
                  </a:lnTo>
                  <a:cubicBezTo>
                    <a:pt x="14272" y="10487"/>
                    <a:pt x="13239" y="8724"/>
                    <a:pt x="15304" y="7239"/>
                  </a:cubicBezTo>
                  <a:close/>
                  <a:moveTo>
                    <a:pt x="123160" y="20603"/>
                  </a:moveTo>
                  <a:lnTo>
                    <a:pt x="108141" y="23852"/>
                  </a:lnTo>
                  <a:lnTo>
                    <a:pt x="123160" y="27100"/>
                  </a:lnTo>
                  <a:cubicBezTo>
                    <a:pt x="127197" y="28028"/>
                    <a:pt x="128136" y="29884"/>
                    <a:pt x="126164" y="31369"/>
                  </a:cubicBezTo>
                  <a:cubicBezTo>
                    <a:pt x="122686" y="32772"/>
                    <a:pt x="118874" y="33159"/>
                    <a:pt x="115182" y="32483"/>
                  </a:cubicBezTo>
                  <a:lnTo>
                    <a:pt x="88053" y="26636"/>
                  </a:lnTo>
                  <a:cubicBezTo>
                    <a:pt x="86742" y="26280"/>
                    <a:pt x="85525" y="25646"/>
                    <a:pt x="84486" y="24780"/>
                  </a:cubicBezTo>
                  <a:cubicBezTo>
                    <a:pt x="84486" y="24780"/>
                    <a:pt x="84017" y="24223"/>
                    <a:pt x="84017" y="23852"/>
                  </a:cubicBezTo>
                  <a:cubicBezTo>
                    <a:pt x="84017" y="23480"/>
                    <a:pt x="84486" y="23295"/>
                    <a:pt x="84486" y="23109"/>
                  </a:cubicBezTo>
                  <a:cubicBezTo>
                    <a:pt x="85525" y="22242"/>
                    <a:pt x="86742" y="21609"/>
                    <a:pt x="88053" y="21253"/>
                  </a:cubicBezTo>
                  <a:lnTo>
                    <a:pt x="115182" y="15406"/>
                  </a:lnTo>
                  <a:cubicBezTo>
                    <a:pt x="118891" y="14739"/>
                    <a:pt x="122718" y="15192"/>
                    <a:pt x="126164" y="16705"/>
                  </a:cubicBezTo>
                  <a:cubicBezTo>
                    <a:pt x="128136" y="18005"/>
                    <a:pt x="127197" y="19861"/>
                    <a:pt x="123160" y="20603"/>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16" name="TextBox 15">
            <a:extLst>
              <a:ext uri="{FF2B5EF4-FFF2-40B4-BE49-F238E27FC236}">
                <a16:creationId xmlns:a16="http://schemas.microsoft.com/office/drawing/2014/main" id="{F3387AB2-6E36-B734-A863-9F0624C88090}"/>
              </a:ext>
            </a:extLst>
          </p:cNvPr>
          <p:cNvSpPr txBox="1"/>
          <p:nvPr/>
        </p:nvSpPr>
        <p:spPr>
          <a:xfrm>
            <a:off x="5331894" y="4731071"/>
            <a:ext cx="3368586" cy="276999"/>
          </a:xfrm>
          <a:prstGeom prst="rect">
            <a:avLst/>
          </a:prstGeom>
          <a:noFill/>
        </p:spPr>
        <p:txBody>
          <a:bodyPr wrap="square">
            <a:spAutoFit/>
          </a:bodyPr>
          <a:lstStyle/>
          <a:p>
            <a:r>
              <a:rPr lang="en-US" sz="1200" dirty="0">
                <a:hlinkClick r:id="rId2"/>
              </a:rPr>
              <a:t>https://</a:t>
            </a:r>
            <a:r>
              <a:rPr lang="en-US" sz="1200" dirty="0" err="1">
                <a:hlinkClick r:id="rId2"/>
              </a:rPr>
              <a:t>www.snowflake.com</a:t>
            </a:r>
            <a:r>
              <a:rPr lang="en-US" sz="1200" dirty="0">
                <a:hlinkClick r:id="rId2"/>
              </a:rPr>
              <a:t>/</a:t>
            </a:r>
            <a:r>
              <a:rPr lang="en-US" sz="1200" dirty="0" err="1">
                <a:hlinkClick r:id="rId2"/>
              </a:rPr>
              <a:t>en</a:t>
            </a:r>
            <a:r>
              <a:rPr lang="en-US" sz="1200" dirty="0">
                <a:hlinkClick r:id="rId2"/>
              </a:rPr>
              <a:t>/pricing-options/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Cost Detail by Year</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3299994"/>
        </p:xfrm>
        <a:graphic>
          <a:graphicData uri="http://schemas.openxmlformats.org/drawingml/2006/table">
            <a:tbl>
              <a:tblPr/>
              <a:tblGrid>
                <a:gridCol w="2860591">
                  <a:extLst>
                    <a:ext uri="{9D8B030D-6E8A-4147-A177-3AD203B41FA5}">
                      <a16:colId xmlns:a16="http://schemas.microsoft.com/office/drawing/2014/main" val="20000"/>
                    </a:ext>
                  </a:extLst>
                </a:gridCol>
                <a:gridCol w="1787869">
                  <a:extLst>
                    <a:ext uri="{9D8B030D-6E8A-4147-A177-3AD203B41FA5}">
                      <a16:colId xmlns:a16="http://schemas.microsoft.com/office/drawing/2014/main" val="20001"/>
                    </a:ext>
                  </a:extLst>
                </a:gridCol>
                <a:gridCol w="1787869">
                  <a:extLst>
                    <a:ext uri="{9D8B030D-6E8A-4147-A177-3AD203B41FA5}">
                      <a16:colId xmlns:a16="http://schemas.microsoft.com/office/drawing/2014/main" val="20002"/>
                    </a:ext>
                  </a:extLst>
                </a:gridCol>
                <a:gridCol w="1787871">
                  <a:extLst>
                    <a:ext uri="{9D8B030D-6E8A-4147-A177-3AD203B41FA5}">
                      <a16:colId xmlns:a16="http://schemas.microsoft.com/office/drawing/2014/main" val="20003"/>
                    </a:ext>
                  </a:extLst>
                </a:gridCol>
              </a:tblGrid>
              <a:tr h="366666">
                <a:tc>
                  <a:txBody>
                    <a:bodyPr/>
                    <a:lstStyle/>
                    <a:p>
                      <a:pPr algn="ctr">
                        <a:lnSpc>
                          <a:spcPct val="100000"/>
                        </a:lnSpc>
                        <a:tabLst>
                          <a:tab pos="0" algn="l"/>
                        </a:tabLst>
                      </a:pPr>
                      <a:r>
                        <a:rPr lang="en" sz="1077" b="1" u="none" strike="noStrike">
                          <a:solidFill>
                            <a:srgbClr val="FFFFFF"/>
                          </a:solidFill>
                          <a:effectLst/>
                          <a:uFillTx/>
                          <a:latin typeface="Arial"/>
                          <a:ea typeface="Arial"/>
                        </a:rPr>
                        <a:t>Category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1</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2</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3</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Compute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$56,464</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$160,618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$208,803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Serverless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$2,118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$2,937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$3,818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AI / Cortex</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Storage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$493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$641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$833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Other (SPCS/OpenFlow/Transfer/Collab/Repl.)</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$8,671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$7,782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$7,793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Snowflake Services Delivery</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Educational Services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1" u="none" strike="noStrike">
                          <a:solidFill>
                            <a:schemeClr val="dk1"/>
                          </a:solidFill>
                          <a:effectLst/>
                          <a:uFillTx/>
                          <a:latin typeface="Arial"/>
                          <a:ea typeface="Arial"/>
                        </a:rPr>
                        <a:t>Total</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$67,746</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$171,977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$221,247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4</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Core costs by category (USD)</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2"/>
          <p:cNvSpPr>
            <a:spLocks noGrp="1"/>
          </p:cNvSpPr>
          <p:nvPr>
            <p:ph type="title"/>
          </p:nvPr>
        </p:nvSpPr>
        <p:spPr>
          <a:xfrm>
            <a:off x="365760" y="274320"/>
            <a:ext cx="831816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Year-by-Year Cost Breakdown</a:t>
            </a:r>
            <a:endParaRPr lang="en-GB" sz="2600" b="0" u="none" strike="noStrike" dirty="0">
              <a:solidFill>
                <a:srgbClr val="000000"/>
              </a:solidFill>
              <a:effectLst/>
              <a:uFillTx/>
              <a:latin typeface="Arial"/>
            </a:endParaRPr>
          </a:p>
        </p:txBody>
      </p:sp>
      <p:sp>
        <p:nvSpPr>
          <p:cNvPr id="304" name="PlaceHolder 3"/>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5</a:t>
            </a:fld>
            <a:endParaRPr lang="en-GB" sz="600" b="0" u="none" strike="noStrike">
              <a:solidFill>
                <a:srgbClr val="000000"/>
              </a:solidFill>
              <a:effectLst/>
              <a:uFillTx/>
              <a:latin typeface="Times New Roman"/>
            </a:endParaRPr>
          </a:p>
        </p:txBody>
      </p:sp>
      <p:sp>
        <p:nvSpPr>
          <p:cNvPr id="305" name="PlaceHolder 4"/>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ACV by year:  Y1 $67,746   |   Y2 $171,977   |   Y3 $221,247</a:t>
            </a:r>
            <a:endParaRPr lang="en-GB" sz="1800" b="0" u="none" strike="noStrike">
              <a:solidFill>
                <a:srgbClr val="000000"/>
              </a:solidFill>
              <a:effectLst/>
              <a:uFillTx/>
              <a:latin typeface="Arial"/>
            </a:endParaRPr>
          </a:p>
        </p:txBody>
      </p:sp>
      <p:sp>
        <p:nvSpPr>
          <p:cNvPr id="306" name="TextBox 305"/>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graphicFrame xmlns:p="http://schemas.openxmlformats.org/presentationml/2006/main" xmlns:a="http://schemas.openxmlformats.org/drawingml/2006/main" xmlns:r="http://schemas.openxmlformats.org/officeDocument/2006/relationships" xmlns:c="http://schemas.openxmlformats.org/drawingml/2006/chart">
        <p:nvGraphicFramePr>
          <p:cNvPr id="307" name="Chart 306"/>
          <p:cNvGraphicFramePr>
            <a:graphicFrameLocks noGrp="1"/>
          </p:cNvGraphicFramePr>
          <p:nvPr/>
        </p:nvGraphicFramePr>
        <p:xfrm>
          <a:off x="411480" y="1325880"/>
          <a:ext cx="8321040" cy="3063240"/>
        </p:xfrm>
        <a:graphic>
          <a:graphicData uri="http://schemas.openxmlformats.org/drawingml/2006/chart">
            <c:chart r:id="rId2"/>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2"/>
          <p:cNvSpPr>
            <a:spLocks noGrp="1"/>
          </p:cNvSpPr>
          <p:nvPr>
            <p:ph type="title"/>
          </p:nvPr>
        </p:nvSpPr>
        <p:spPr>
          <a:xfrm>
            <a:off x="365760" y="274320"/>
            <a:ext cx="831816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Compute Mix by Workload</a:t>
            </a:r>
            <a:endParaRPr lang="en-GB" sz="2600" b="0" u="none" strike="noStrike" dirty="0">
              <a:solidFill>
                <a:srgbClr val="000000"/>
              </a:solidFill>
              <a:effectLst/>
              <a:uFillTx/>
              <a:latin typeface="Arial"/>
            </a:endParaRPr>
          </a:p>
        </p:txBody>
      </p:sp>
      <p:sp>
        <p:nvSpPr>
          <p:cNvPr id="304" name="PlaceHolder 3"/>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5</a:t>
            </a:fld>
            <a:endParaRPr lang="en-GB" sz="600" b="0" u="none" strike="noStrike">
              <a:solidFill>
                <a:srgbClr val="000000"/>
              </a:solidFill>
              <a:effectLst/>
              <a:uFillTx/>
              <a:latin typeface="Times New Roman"/>
            </a:endParaRPr>
          </a:p>
        </p:txBody>
      </p:sp>
      <p:sp>
        <p:nvSpPr>
          <p:cNvPr id="305" name="PlaceHolder 4"/>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Year-1 warehouse credits by workload</a:t>
            </a:r>
            <a:endParaRPr lang="en-GB" sz="1800" b="0" u="none" strike="noStrike">
              <a:solidFill>
                <a:srgbClr val="000000"/>
              </a:solidFill>
              <a:effectLst/>
              <a:uFillTx/>
              <a:latin typeface="Arial"/>
            </a:endParaRPr>
          </a:p>
        </p:txBody>
      </p:sp>
      <p:sp>
        <p:nvSpPr>
          <p:cNvPr id="306" name="TextBox 305"/>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graphicFrame xmlns:p="http://schemas.openxmlformats.org/presentationml/2006/main" xmlns:a="http://schemas.openxmlformats.org/drawingml/2006/main" xmlns:r="http://schemas.openxmlformats.org/officeDocument/2006/relationships" xmlns:c="http://schemas.openxmlformats.org/drawingml/2006/chart">
        <p:nvGraphicFramePr>
          <p:cNvPr id="307" name="Chart 306"/>
          <p:cNvGraphicFramePr>
            <a:graphicFrameLocks noGrp="1"/>
          </p:cNvGraphicFramePr>
          <p:nvPr/>
        </p:nvGraphicFramePr>
        <p:xfrm>
          <a:off x="1554120" y="1270440"/>
          <a:ext cx="6006120" cy="3144960"/>
        </p:xfrm>
        <a:graphic>
          <a:graphicData uri="http://schemas.openxmlformats.org/drawingml/2006/chart">
            <c:chart r:id="rId2"/>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Warehouse Workloads</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2859840"/>
        </p:xfrm>
        <a:graphic>
          <a:graphicData uri="http://schemas.openxmlformats.org/drawingml/2006/table">
            <a:tbl>
              <a:tblPr/>
              <a:tblGrid>
                <a:gridCol w="2271878">
                  <a:extLst>
                    <a:ext uri="{9D8B030D-6E8A-4147-A177-3AD203B41FA5}">
                      <a16:colId xmlns:a16="http://schemas.microsoft.com/office/drawing/2014/main" val="20000"/>
                    </a:ext>
                  </a:extLst>
                </a:gridCol>
                <a:gridCol w="727001">
                  <a:extLst>
                    <a:ext uri="{9D8B030D-6E8A-4147-A177-3AD203B41FA5}">
                      <a16:colId xmlns:a16="http://schemas.microsoft.com/office/drawing/2014/main" val="20001"/>
                    </a:ext>
                  </a:extLst>
                </a:gridCol>
                <a:gridCol w="772438">
                  <a:extLst>
                    <a:ext uri="{9D8B030D-6E8A-4147-A177-3AD203B41FA5}">
                      <a16:colId xmlns:a16="http://schemas.microsoft.com/office/drawing/2014/main" val="20002"/>
                    </a:ext>
                  </a:extLst>
                </a:gridCol>
                <a:gridCol w="772438">
                  <a:extLst>
                    <a:ext uri="{9D8B030D-6E8A-4147-A177-3AD203B41FA5}">
                      <a16:colId xmlns:a16="http://schemas.microsoft.com/office/drawing/2014/main" val="20003"/>
                    </a:ext>
                  </a:extLst>
                </a:gridCol>
                <a:gridCol w="681563">
                  <a:extLst>
                    <a:ext uri="{9D8B030D-6E8A-4147-A177-3AD203B41FA5}">
                      <a16:colId xmlns:a16="http://schemas.microsoft.com/office/drawing/2014/main" val="20004"/>
                    </a:ext>
                  </a:extLst>
                </a:gridCol>
                <a:gridCol w="681563">
                  <a:extLst>
                    <a:ext uri="{9D8B030D-6E8A-4147-A177-3AD203B41FA5}">
                      <a16:colId xmlns:a16="http://schemas.microsoft.com/office/drawing/2014/main" val="20005"/>
                    </a:ext>
                  </a:extLst>
                </a:gridCol>
                <a:gridCol w="954188">
                  <a:extLst>
                    <a:ext uri="{9D8B030D-6E8A-4147-A177-3AD203B41FA5}">
                      <a16:colId xmlns:a16="http://schemas.microsoft.com/office/drawing/2014/main" val="20006"/>
                    </a:ext>
                  </a:extLst>
                </a:gridCol>
                <a:gridCol w="636125">
                  <a:extLst>
                    <a:ext uri="{9D8B030D-6E8A-4147-A177-3AD203B41FA5}">
                      <a16:colId xmlns:a16="http://schemas.microsoft.com/office/drawing/2014/main" val="20007"/>
                    </a:ext>
                  </a:extLst>
                </a:gridCol>
                <a:gridCol w="727006">
                  <a:extLst>
                    <a:ext uri="{9D8B030D-6E8A-4147-A177-3AD203B41FA5}">
                      <a16:colId xmlns:a16="http://schemas.microsoft.com/office/drawing/2014/main" val="20008"/>
                    </a:ext>
                  </a:extLst>
                </a:gridCol>
              </a:tblGrid>
              <a:tr h="476640">
                <a:tc>
                  <a:txBody>
                    <a:bodyPr/>
                    <a:lstStyle/>
                    <a:p>
                      <a:pPr algn="ctr">
                        <a:lnSpc>
                          <a:spcPct val="100000"/>
                        </a:lnSpc>
                        <a:tabLst>
                          <a:tab pos="0" algn="l"/>
                        </a:tabLst>
                      </a:pPr>
                      <a:r>
                        <a:rPr lang="en" sz="1400" b="1" u="none" strike="noStrike">
                          <a:solidFill>
                            <a:srgbClr val="FFFFFF"/>
                          </a:solidFill>
                          <a:effectLst/>
                          <a:uFillTx/>
                          <a:latin typeface="Arial"/>
                          <a:ea typeface="Arial"/>
                        </a:rPr>
                        <a:t>Workload</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Size</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Hrs/Day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Days/Mo</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Min Cl</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Max Cl</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Ramp</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Dev</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Go-Live</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Data Ingestion (Fivetran -&gt; Snowflake)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fast</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M4</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dbt Transformations (200 models)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Power BI DirectQuery (40 concurrent users)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slow</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Data Science / Snowpark (5 users)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12.5</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Development / Sandbox (8 engineers)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XS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4</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fastest</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4</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5 workload(s)</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Serverless, AI &amp; Other Compute</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1906560"/>
        </p:xfrm>
        <a:graphic>
          <a:graphicData uri="http://schemas.openxmlformats.org/drawingml/2006/table">
            <a:tbl>
              <a:tblPr/>
              <a:tblGrid>
                <a:gridCol w="2860591">
                  <a:extLst>
                    <a:ext uri="{9D8B030D-6E8A-4147-A177-3AD203B41FA5}">
                      <a16:colId xmlns:a16="http://schemas.microsoft.com/office/drawing/2014/main" val="20000"/>
                    </a:ext>
                  </a:extLst>
                </a:gridCol>
                <a:gridCol w="1787869">
                  <a:extLst>
                    <a:ext uri="{9D8B030D-6E8A-4147-A177-3AD203B41FA5}">
                      <a16:colId xmlns:a16="http://schemas.microsoft.com/office/drawing/2014/main" val="20001"/>
                    </a:ext>
                  </a:extLst>
                </a:gridCol>
                <a:gridCol w="1787869">
                  <a:extLst>
                    <a:ext uri="{9D8B030D-6E8A-4147-A177-3AD203B41FA5}">
                      <a16:colId xmlns:a16="http://schemas.microsoft.com/office/drawing/2014/main" val="20002"/>
                    </a:ext>
                  </a:extLst>
                </a:gridCol>
                <a:gridCol w="1787871">
                  <a:extLst>
                    <a:ext uri="{9D8B030D-6E8A-4147-A177-3AD203B41FA5}">
                      <a16:colId xmlns:a16="http://schemas.microsoft.com/office/drawing/2014/main" val="20003"/>
                    </a:ext>
                  </a:extLst>
                </a:gridCol>
              </a:tblGrid>
              <a:tr h="476640">
                <a:tc>
                  <a:txBody>
                    <a:bodyPr/>
                    <a:lstStyle/>
                    <a:p>
                      <a:pPr algn="ctr">
                        <a:lnSpc>
                          <a:spcPct val="100000"/>
                        </a:lnSpc>
                        <a:tabLst>
                          <a:tab pos="0" algn="l"/>
                        </a:tabLst>
                      </a:pPr>
                      <a:r>
                        <a:rPr lang="en" sz="1400" b="1" u="none" strike="noStrike">
                          <a:solidFill>
                            <a:srgbClr val="FFFFFF"/>
                          </a:solidFill>
                          <a:effectLst/>
                          <a:uFillTx/>
                          <a:latin typeface="Arial"/>
                          <a:ea typeface="Arial"/>
                        </a:rPr>
                        <a:t>Category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Year 1</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Year 2</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Year 3</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Serverless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$2,118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$2,937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$3,818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Replication / DR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$8,671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$7,782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$7,793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1" u="none" strike="noStrike">
                          <a:solidFill>
                            <a:schemeClr val="dk1"/>
                          </a:solidFill>
                          <a:effectLst/>
                          <a:uFillTx/>
                          <a:latin typeface="Arial"/>
                          <a:ea typeface="Arial"/>
                        </a:rPr>
                        <a:t>Total</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1" u="none" strike="noStrike">
                          <a:solidFill>
                            <a:schemeClr val="dk1"/>
                          </a:solidFill>
                          <a:effectLst/>
                          <a:uFillTx/>
                          <a:latin typeface="Arial"/>
                          <a:ea typeface="Arial"/>
                        </a:rPr>
                        <a:t>$10,789</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1" u="none" strike="noStrike">
                          <a:solidFill>
                            <a:schemeClr val="dk1"/>
                          </a:solidFill>
                          <a:effectLst/>
                          <a:uFillTx/>
                          <a:latin typeface="Arial"/>
                          <a:ea typeface="Arial"/>
                        </a:rPr>
                        <a:t>$10,719</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1" u="none" strike="noStrike">
                          <a:solidFill>
                            <a:schemeClr val="dk1"/>
                          </a:solidFill>
                          <a:effectLst/>
                          <a:uFillTx/>
                          <a:latin typeface="Arial"/>
                          <a:ea typeface="Arial"/>
                        </a:rPr>
                        <a:t>$11,611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4</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Projected spend by year (USD)</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PlaceHolder 1"/>
          <p:cNvSpPr>
            <a:spLocks noGrp="1"/>
          </p:cNvSpPr>
          <p:nvPr>
            <p:ph/>
          </p:nvPr>
        </p:nvSpPr>
        <p:spPr>
          <a:xfrm>
            <a:off x="365760" y="1886400"/>
            <a:ext cx="7481520" cy="1354320"/>
          </a:xfrm>
          <a:prstGeom prst="rect">
            <a:avLst/>
          </a:prstGeom>
          <a:noFill/>
          <a:ln w="0">
            <a:noFill/>
          </a:ln>
        </p:spPr>
        <p:txBody>
          <a:bodyPr lIns="91440" tIns="45720" rIns="91440" bIns="45720" anchor="ctr">
            <a:noAutofit/>
          </a:bodyPr>
          <a:lstStyle/>
          <a:p>
            <a:pPr indent="0">
              <a:lnSpc>
                <a:spcPct val="75000"/>
              </a:lnSpc>
              <a:buNone/>
              <a:tabLst>
                <a:tab pos="0" algn="l"/>
              </a:tabLst>
            </a:pPr>
            <a:r>
              <a:rPr lang="en" sz="7300" b="1" u="none" strike="noStrike">
                <a:solidFill>
                  <a:schemeClr val="lt1"/>
                </a:solidFill>
                <a:effectLst/>
                <a:uFillTx/>
                <a:latin typeface="Arial"/>
                <a:ea typeface="Arial"/>
              </a:rPr>
              <a:t>THANK</a:t>
            </a:r>
            <a:endParaRPr lang="en-GB" sz="7300" b="0" u="none" strike="noStrike">
              <a:solidFill>
                <a:srgbClr val="000000"/>
              </a:solidFill>
              <a:effectLst/>
              <a:uFillTx/>
              <a:latin typeface="Arial"/>
            </a:endParaRPr>
          </a:p>
          <a:p>
            <a:pPr indent="0">
              <a:lnSpc>
                <a:spcPct val="75000"/>
              </a:lnSpc>
              <a:buNone/>
              <a:tabLst>
                <a:tab pos="0" algn="l"/>
              </a:tabLst>
            </a:pPr>
            <a:r>
              <a:rPr lang="en" sz="7300" b="1" u="none" strike="noStrike">
                <a:solidFill>
                  <a:schemeClr val="dk1"/>
                </a:solidFill>
                <a:effectLst/>
                <a:uFillTx/>
                <a:latin typeface="Arial"/>
                <a:ea typeface="Arial"/>
              </a:rPr>
              <a:t>YOU</a:t>
            </a:r>
            <a:endParaRPr lang="en-GB" sz="73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TotalTime>
  <Words>999</Words>
  <Application>Microsoft Macintosh PowerPoint</Application>
  <PresentationFormat>On-screen Show (16:9)</PresentationFormat>
  <Paragraphs>69</Paragraphs>
  <Slides>10</Slides>
  <Notes>0</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10</vt:i4>
      </vt:variant>
    </vt:vector>
  </HeadingPairs>
  <TitlesOfParts>
    <vt:vector size="22" baseType="lpstr">
      <vt:lpstr>Symbol</vt:lpstr>
      <vt:lpstr>Arial</vt:lpstr>
      <vt:lpstr>Wingdings</vt:lpstr>
      <vt:lpstr>Lato</vt:lpstr>
      <vt:lpstr>Times New Roman</vt:lpstr>
      <vt:lpstr>Snowflake 2026.01</vt:lpstr>
      <vt:lpstr>Snowflake 2026.01</vt:lpstr>
      <vt:lpstr>Snowflake 2026.01</vt:lpstr>
      <vt:lpstr>Snowflake 2026.01</vt:lpstr>
      <vt:lpstr>Office Theme</vt:lpstr>
      <vt:lpstr>Office Theme</vt:lpstr>
      <vt:lpstr>Office Theme</vt:lpstr>
      <vt:lpstr>Acme Financial</vt:lpstr>
      <vt:lpstr>Safe Harbor and Disclaimers</vt:lpstr>
      <vt:lpstr>Agenda</vt:lpstr>
      <vt:lpstr>Understanding Your Snowflake Costs</vt:lpstr>
      <vt:lpstr>Cost Detail by Year</vt:lpstr>
      <vt:lpstr>Year-by-Year Cost Breakdown</vt:lpstr>
      <vt:lpstr>Compute Mix by Workload</vt:lpstr>
      <vt:lpstr>Warehouse Workloads</vt:lpstr>
      <vt:lpstr>Serverless, AI &amp; Other Compute</vt:lpstr>
      <vt:lpstr>THANK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Alex Ross</cp:lastModifiedBy>
  <cp:revision>24</cp:revision>
  <dcterms:modified xsi:type="dcterms:W3CDTF">2026-06-02T16:49:03Z</dcterms:modified>
  <dc:language>en-GB</dc:language>
</cp:coreProperties>
</file>